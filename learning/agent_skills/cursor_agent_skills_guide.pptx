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B3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pic>
        <p:nvPicPr>
          <p:cNvPr id="3" name="Image 0" descr="preencoded.png">    </p:cNvPr>
          <p:cNvPicPr>
            <a:picLocks noChangeAspect="1"/>
          </p:cNvPicPr>
          <p:nvPr/>
        </p:nvPicPr>
        <p:blipFill>
          <a:blip r:embed="rId1"/>
          <a:stretch>
            <a:fillRect/>
          </a:stretch>
        </p:blipFill>
        <p:spPr>
          <a:xfrm>
            <a:off x="3931920" y="640080"/>
            <a:ext cx="1280160" cy="1280160"/>
          </a:xfrm>
          <a:prstGeom prst="rect">
            <a:avLst/>
          </a:prstGeom>
        </p:spPr>
      </p:pic>
      <p:sp>
        <p:nvSpPr>
          <p:cNvPr id="4" name="Text 1"/>
          <p:cNvSpPr/>
          <p:nvPr/>
        </p:nvSpPr>
        <p:spPr>
          <a:xfrm>
            <a:off x="457200" y="2011680"/>
            <a:ext cx="8229600"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Cursor Agent Skills</a:t>
            </a:r>
            <a:endParaRPr lang="en-US" sz="4200" dirty="0"/>
          </a:p>
        </p:txBody>
      </p:sp>
      <p:sp>
        <p:nvSpPr>
          <p:cNvPr id="5" name="Text 2"/>
          <p:cNvSpPr/>
          <p:nvPr/>
        </p:nvSpPr>
        <p:spPr>
          <a:xfrm>
            <a:off x="457200" y="2834640"/>
            <a:ext cx="8229600" cy="548640"/>
          </a:xfrm>
          <a:prstGeom prst="rect">
            <a:avLst/>
          </a:prstGeom>
          <a:noFill/>
          <a:ln/>
        </p:spPr>
        <p:txBody>
          <a:bodyPr wrap="square" lIns="0" tIns="0" rIns="0" bIns="0" rtlCol="0" anchor="ctr"/>
          <a:lstStyle/>
          <a:p>
            <a:pPr algn="ctr" indent="0" marL="0">
              <a:buNone/>
            </a:pPr>
            <a:r>
              <a:rPr lang="en-US" sz="2200" dirty="0">
                <a:solidFill>
                  <a:srgbClr val="E8913A"/>
                </a:solidFill>
                <a:latin typeface="Calibri" pitchFamily="34" charset="0"/>
                <a:ea typeface="Calibri" pitchFamily="34" charset="-122"/>
                <a:cs typeface="Calibri" pitchFamily="34" charset="-120"/>
              </a:rPr>
              <a:t>導入・拡張ステップバイステップガイド</a:t>
            </a:r>
            <a:endParaRPr lang="en-US" sz="2200" dirty="0"/>
          </a:p>
        </p:txBody>
      </p:sp>
      <p:sp>
        <p:nvSpPr>
          <p:cNvPr id="6" name="Shape 3"/>
          <p:cNvSpPr/>
          <p:nvPr/>
        </p:nvSpPr>
        <p:spPr>
          <a:xfrm>
            <a:off x="2286000" y="3657600"/>
            <a:ext cx="4572000" cy="36576"/>
          </a:xfrm>
          <a:prstGeom prst="rect">
            <a:avLst/>
          </a:prstGeom>
          <a:solidFill>
            <a:srgbClr val="2A3D66"/>
          </a:solidFill>
          <a:ln/>
        </p:spPr>
      </p:sp>
      <p:sp>
        <p:nvSpPr>
          <p:cNvPr id="7" name="Text 4"/>
          <p:cNvSpPr/>
          <p:nvPr/>
        </p:nvSpPr>
        <p:spPr>
          <a:xfrm>
            <a:off x="1371600" y="3931920"/>
            <a:ext cx="6400800" cy="4572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初心者でもすぐに始められる実践的な手順書</a:t>
            </a:r>
            <a:endParaRPr lang="en-US" sz="1400" dirty="0"/>
          </a:p>
        </p:txBody>
      </p:sp>
      <p:sp>
        <p:nvSpPr>
          <p:cNvPr id="8" name="Text 5"/>
          <p:cNvSpPr/>
          <p:nvPr/>
        </p:nvSpPr>
        <p:spPr>
          <a:xfrm>
            <a:off x="457200" y="4663440"/>
            <a:ext cx="8229600" cy="27432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2026年4月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Text 1"/>
          <p:cNvSpPr/>
          <p:nvPr/>
        </p:nvSpPr>
        <p:spPr>
          <a:xfrm>
            <a:off x="640080" y="274320"/>
            <a:ext cx="7863840" cy="640080"/>
          </a:xfrm>
          <a:prstGeom prst="rect">
            <a:avLst/>
          </a:prstGeom>
          <a:noFill/>
          <a:ln/>
        </p:spPr>
        <p:txBody>
          <a:bodyPr wrap="square" lIns="0" tIns="0" rIns="0" bIns="0" rtlCol="0" anchor="ctr"/>
          <a:lstStyle/>
          <a:p>
            <a:pPr indent="0" marL="0">
              <a:buNone/>
            </a:pPr>
            <a:r>
              <a:rPr lang="en-US" sz="3200" b="1" dirty="0">
                <a:solidFill>
                  <a:srgbClr val="1A2744"/>
                </a:solidFill>
                <a:latin typeface="Georgia" pitchFamily="34" charset="0"/>
                <a:ea typeface="Georgia" pitchFamily="34" charset="-122"/>
                <a:cs typeface="Georgia" pitchFamily="34" charset="-120"/>
              </a:rPr>
              <a:t>目 次</a:t>
            </a:r>
            <a:endParaRPr lang="en-US" sz="3200" dirty="0"/>
          </a:p>
        </p:txBody>
      </p:sp>
      <p:sp>
        <p:nvSpPr>
          <p:cNvPr id="4" name="Shape 2"/>
          <p:cNvSpPr/>
          <p:nvPr/>
        </p:nvSpPr>
        <p:spPr>
          <a:xfrm>
            <a:off x="640080" y="914400"/>
            <a:ext cx="1097280" cy="36576"/>
          </a:xfrm>
          <a:prstGeom prst="rect">
            <a:avLst/>
          </a:prstGeom>
          <a:solidFill>
            <a:srgbClr val="E8913A"/>
          </a:solidFill>
          <a:ln/>
        </p:spPr>
      </p:sp>
      <p:sp>
        <p:nvSpPr>
          <p:cNvPr id="5" name="Shape 3"/>
          <p:cNvSpPr/>
          <p:nvPr/>
        </p:nvSpPr>
        <p:spPr>
          <a:xfrm>
            <a:off x="640080" y="1188720"/>
            <a:ext cx="7863840" cy="347472"/>
          </a:xfrm>
          <a:prstGeom prst="rect">
            <a:avLst/>
          </a:prstGeom>
          <a:solidFill>
            <a:srgbClr val="FFFFFF"/>
          </a:solidFill>
          <a:ln/>
        </p:spPr>
      </p:sp>
      <p:sp>
        <p:nvSpPr>
          <p:cNvPr id="6" name="Text 4"/>
          <p:cNvSpPr/>
          <p:nvPr/>
        </p:nvSpPr>
        <p:spPr>
          <a:xfrm>
            <a:off x="731520" y="1188720"/>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01</a:t>
            </a:r>
            <a:endParaRPr lang="en-US" sz="1200" dirty="0"/>
          </a:p>
        </p:txBody>
      </p:sp>
      <p:sp>
        <p:nvSpPr>
          <p:cNvPr id="7" name="Text 5"/>
          <p:cNvSpPr/>
          <p:nvPr/>
        </p:nvSpPr>
        <p:spPr>
          <a:xfrm>
            <a:off x="1280160" y="1188720"/>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Agent Skills とは何か</a:t>
            </a:r>
            <a:endParaRPr lang="en-US" sz="1200" dirty="0"/>
          </a:p>
        </p:txBody>
      </p:sp>
      <p:sp>
        <p:nvSpPr>
          <p:cNvPr id="8" name="Text 6"/>
          <p:cNvSpPr/>
          <p:nvPr/>
        </p:nvSpPr>
        <p:spPr>
          <a:xfrm>
            <a:off x="4572000" y="1188720"/>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Rules・Commands との違いを理解する</a:t>
            </a:r>
            <a:endParaRPr lang="en-US" sz="1000" dirty="0"/>
          </a:p>
        </p:txBody>
      </p:sp>
      <p:sp>
        <p:nvSpPr>
          <p:cNvPr id="9" name="Shape 7"/>
          <p:cNvSpPr/>
          <p:nvPr/>
        </p:nvSpPr>
        <p:spPr>
          <a:xfrm>
            <a:off x="640080" y="1545336"/>
            <a:ext cx="7863840" cy="347472"/>
          </a:xfrm>
          <a:prstGeom prst="rect">
            <a:avLst/>
          </a:prstGeom>
          <a:solidFill>
            <a:srgbClr val="EBF2FC"/>
          </a:solidFill>
          <a:ln/>
        </p:spPr>
      </p:sp>
      <p:sp>
        <p:nvSpPr>
          <p:cNvPr id="10" name="Text 8"/>
          <p:cNvSpPr/>
          <p:nvPr/>
        </p:nvSpPr>
        <p:spPr>
          <a:xfrm>
            <a:off x="731520" y="1545336"/>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02</a:t>
            </a:r>
            <a:endParaRPr lang="en-US" sz="1200" dirty="0"/>
          </a:p>
        </p:txBody>
      </p:sp>
      <p:sp>
        <p:nvSpPr>
          <p:cNvPr id="11" name="Text 9"/>
          <p:cNvSpPr/>
          <p:nvPr/>
        </p:nvSpPr>
        <p:spPr>
          <a:xfrm>
            <a:off x="1280160" y="1545336"/>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準備：Nightly への切替と配置場所</a:t>
            </a:r>
            <a:endParaRPr lang="en-US" sz="1200" dirty="0"/>
          </a:p>
        </p:txBody>
      </p:sp>
      <p:sp>
        <p:nvSpPr>
          <p:cNvPr id="12" name="Text 10"/>
          <p:cNvSpPr/>
          <p:nvPr/>
        </p:nvSpPr>
        <p:spPr>
          <a:xfrm>
            <a:off x="4572000" y="1545336"/>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Skill を始める前に必要な設定</a:t>
            </a:r>
            <a:endParaRPr lang="en-US" sz="1000" dirty="0"/>
          </a:p>
        </p:txBody>
      </p:sp>
      <p:sp>
        <p:nvSpPr>
          <p:cNvPr id="13" name="Shape 11"/>
          <p:cNvSpPr/>
          <p:nvPr/>
        </p:nvSpPr>
        <p:spPr>
          <a:xfrm>
            <a:off x="640080" y="1901952"/>
            <a:ext cx="7863840" cy="347472"/>
          </a:xfrm>
          <a:prstGeom prst="rect">
            <a:avLst/>
          </a:prstGeom>
          <a:solidFill>
            <a:srgbClr val="FFFFFF"/>
          </a:solidFill>
          <a:ln/>
        </p:spPr>
      </p:sp>
      <p:sp>
        <p:nvSpPr>
          <p:cNvPr id="14" name="Text 12"/>
          <p:cNvSpPr/>
          <p:nvPr/>
        </p:nvSpPr>
        <p:spPr>
          <a:xfrm>
            <a:off x="731520" y="1901952"/>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03</a:t>
            </a:r>
            <a:endParaRPr lang="en-US" sz="1200" dirty="0"/>
          </a:p>
        </p:txBody>
      </p:sp>
      <p:sp>
        <p:nvSpPr>
          <p:cNvPr id="15" name="Text 13"/>
          <p:cNvSpPr/>
          <p:nvPr/>
        </p:nvSpPr>
        <p:spPr>
          <a:xfrm>
            <a:off x="1280160" y="1901952"/>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最短で動かす手順（4ステップ）</a:t>
            </a:r>
            <a:endParaRPr lang="en-US" sz="1200" dirty="0"/>
          </a:p>
        </p:txBody>
      </p:sp>
      <p:sp>
        <p:nvSpPr>
          <p:cNvPr id="16" name="Text 14"/>
          <p:cNvSpPr/>
          <p:nvPr/>
        </p:nvSpPr>
        <p:spPr>
          <a:xfrm>
            <a:off x="4572000" y="1901952"/>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フォルダ作成 → SKILL.md → 認識確認 → 実行</a:t>
            </a:r>
            <a:endParaRPr lang="en-US" sz="1000" dirty="0"/>
          </a:p>
        </p:txBody>
      </p:sp>
      <p:sp>
        <p:nvSpPr>
          <p:cNvPr id="17" name="Shape 15"/>
          <p:cNvSpPr/>
          <p:nvPr/>
        </p:nvSpPr>
        <p:spPr>
          <a:xfrm>
            <a:off x="640080" y="2258568"/>
            <a:ext cx="7863840" cy="347472"/>
          </a:xfrm>
          <a:prstGeom prst="rect">
            <a:avLst/>
          </a:prstGeom>
          <a:solidFill>
            <a:srgbClr val="EBF2FC"/>
          </a:solidFill>
          <a:ln/>
        </p:spPr>
      </p:sp>
      <p:sp>
        <p:nvSpPr>
          <p:cNvPr id="18" name="Text 16"/>
          <p:cNvSpPr/>
          <p:nvPr/>
        </p:nvSpPr>
        <p:spPr>
          <a:xfrm>
            <a:off x="731520" y="2258568"/>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04</a:t>
            </a:r>
            <a:endParaRPr lang="en-US" sz="1200" dirty="0"/>
          </a:p>
        </p:txBody>
      </p:sp>
      <p:sp>
        <p:nvSpPr>
          <p:cNvPr id="19" name="Text 17"/>
          <p:cNvSpPr/>
          <p:nvPr/>
        </p:nvSpPr>
        <p:spPr>
          <a:xfrm>
            <a:off x="1280160" y="2258568"/>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SKILL.md の書き方</a:t>
            </a:r>
            <a:endParaRPr lang="en-US" sz="1200" dirty="0"/>
          </a:p>
        </p:txBody>
      </p:sp>
      <p:sp>
        <p:nvSpPr>
          <p:cNvPr id="20" name="Text 18"/>
          <p:cNvSpPr/>
          <p:nvPr/>
        </p:nvSpPr>
        <p:spPr>
          <a:xfrm>
            <a:off x="4572000" y="2258568"/>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frontmatter・description・本文の構成</a:t>
            </a:r>
            <a:endParaRPr lang="en-US" sz="1000" dirty="0"/>
          </a:p>
        </p:txBody>
      </p:sp>
      <p:sp>
        <p:nvSpPr>
          <p:cNvPr id="21" name="Shape 19"/>
          <p:cNvSpPr/>
          <p:nvPr/>
        </p:nvSpPr>
        <p:spPr>
          <a:xfrm>
            <a:off x="640080" y="2615184"/>
            <a:ext cx="7863840" cy="347472"/>
          </a:xfrm>
          <a:prstGeom prst="rect">
            <a:avLst/>
          </a:prstGeom>
          <a:solidFill>
            <a:srgbClr val="FFFFFF"/>
          </a:solidFill>
          <a:ln/>
        </p:spPr>
      </p:sp>
      <p:sp>
        <p:nvSpPr>
          <p:cNvPr id="22" name="Text 20"/>
          <p:cNvSpPr/>
          <p:nvPr/>
        </p:nvSpPr>
        <p:spPr>
          <a:xfrm>
            <a:off x="731520" y="2615184"/>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05</a:t>
            </a:r>
            <a:endParaRPr lang="en-US" sz="1200" dirty="0"/>
          </a:p>
        </p:txBody>
      </p:sp>
      <p:sp>
        <p:nvSpPr>
          <p:cNvPr id="23" name="Text 21"/>
          <p:cNvSpPr/>
          <p:nvPr/>
        </p:nvSpPr>
        <p:spPr>
          <a:xfrm>
            <a:off x="1280160" y="2615184"/>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動作確認の方法</a:t>
            </a:r>
            <a:endParaRPr lang="en-US" sz="1200" dirty="0"/>
          </a:p>
        </p:txBody>
      </p:sp>
      <p:sp>
        <p:nvSpPr>
          <p:cNvPr id="24" name="Text 22"/>
          <p:cNvSpPr/>
          <p:nvPr/>
        </p:nvSpPr>
        <p:spPr>
          <a:xfrm>
            <a:off x="4572000" y="2615184"/>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自動発火・手動起動・意図的バグテスト</a:t>
            </a:r>
            <a:endParaRPr lang="en-US" sz="1000" dirty="0"/>
          </a:p>
        </p:txBody>
      </p:sp>
      <p:sp>
        <p:nvSpPr>
          <p:cNvPr id="25" name="Shape 23"/>
          <p:cNvSpPr/>
          <p:nvPr/>
        </p:nvSpPr>
        <p:spPr>
          <a:xfrm>
            <a:off x="640080" y="2971800"/>
            <a:ext cx="7863840" cy="347472"/>
          </a:xfrm>
          <a:prstGeom prst="rect">
            <a:avLst/>
          </a:prstGeom>
          <a:solidFill>
            <a:srgbClr val="EBF2FC"/>
          </a:solidFill>
          <a:ln/>
        </p:spPr>
      </p:sp>
      <p:sp>
        <p:nvSpPr>
          <p:cNvPr id="26" name="Text 24"/>
          <p:cNvSpPr/>
          <p:nvPr/>
        </p:nvSpPr>
        <p:spPr>
          <a:xfrm>
            <a:off x="731520" y="2971800"/>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06</a:t>
            </a:r>
            <a:endParaRPr lang="en-US" sz="1200" dirty="0"/>
          </a:p>
        </p:txBody>
      </p:sp>
      <p:sp>
        <p:nvSpPr>
          <p:cNvPr id="27" name="Text 25"/>
          <p:cNvSpPr/>
          <p:nvPr/>
        </p:nvSpPr>
        <p:spPr>
          <a:xfrm>
            <a:off x="1280160" y="2971800"/>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references/ と scripts/ で拡張する</a:t>
            </a:r>
            <a:endParaRPr lang="en-US" sz="1200" dirty="0"/>
          </a:p>
        </p:txBody>
      </p:sp>
      <p:sp>
        <p:nvSpPr>
          <p:cNvPr id="28" name="Text 26"/>
          <p:cNvSpPr/>
          <p:nvPr/>
        </p:nvSpPr>
        <p:spPr>
          <a:xfrm>
            <a:off x="4572000" y="2971800"/>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チェックリスト外出し・差分取得の自動化</a:t>
            </a:r>
            <a:endParaRPr lang="en-US" sz="1000" dirty="0"/>
          </a:p>
        </p:txBody>
      </p:sp>
      <p:sp>
        <p:nvSpPr>
          <p:cNvPr id="29" name="Shape 27"/>
          <p:cNvSpPr/>
          <p:nvPr/>
        </p:nvSpPr>
        <p:spPr>
          <a:xfrm>
            <a:off x="640080" y="3328416"/>
            <a:ext cx="7863840" cy="347472"/>
          </a:xfrm>
          <a:prstGeom prst="rect">
            <a:avLst/>
          </a:prstGeom>
          <a:solidFill>
            <a:srgbClr val="FFFFFF"/>
          </a:solidFill>
          <a:ln/>
        </p:spPr>
      </p:sp>
      <p:sp>
        <p:nvSpPr>
          <p:cNvPr id="30" name="Text 28"/>
          <p:cNvSpPr/>
          <p:nvPr/>
        </p:nvSpPr>
        <p:spPr>
          <a:xfrm>
            <a:off x="731520" y="3328416"/>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07</a:t>
            </a:r>
            <a:endParaRPr lang="en-US" sz="1200" dirty="0"/>
          </a:p>
        </p:txBody>
      </p:sp>
      <p:sp>
        <p:nvSpPr>
          <p:cNvPr id="31" name="Text 29"/>
          <p:cNvSpPr/>
          <p:nvPr/>
        </p:nvSpPr>
        <p:spPr>
          <a:xfrm>
            <a:off x="1280160" y="3328416"/>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拡張後の完成形：ディレクトリ構成</a:t>
            </a:r>
            <a:endParaRPr lang="en-US" sz="1200" dirty="0"/>
          </a:p>
        </p:txBody>
      </p:sp>
      <p:sp>
        <p:nvSpPr>
          <p:cNvPr id="32" name="Text 30"/>
          <p:cNvSpPr/>
          <p:nvPr/>
        </p:nvSpPr>
        <p:spPr>
          <a:xfrm>
            <a:off x="4572000" y="3328416"/>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5ファイル構成のサンプル一式</a:t>
            </a:r>
            <a:endParaRPr lang="en-US" sz="1000" dirty="0"/>
          </a:p>
        </p:txBody>
      </p:sp>
      <p:sp>
        <p:nvSpPr>
          <p:cNvPr id="33" name="Shape 31"/>
          <p:cNvSpPr/>
          <p:nvPr/>
        </p:nvSpPr>
        <p:spPr>
          <a:xfrm>
            <a:off x="640080" y="3685032"/>
            <a:ext cx="7863840" cy="347472"/>
          </a:xfrm>
          <a:prstGeom prst="rect">
            <a:avLst/>
          </a:prstGeom>
          <a:solidFill>
            <a:srgbClr val="EBF2FC"/>
          </a:solidFill>
          <a:ln/>
        </p:spPr>
      </p:sp>
      <p:sp>
        <p:nvSpPr>
          <p:cNvPr id="34" name="Text 32"/>
          <p:cNvSpPr/>
          <p:nvPr/>
        </p:nvSpPr>
        <p:spPr>
          <a:xfrm>
            <a:off x="731520" y="3685032"/>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08</a:t>
            </a:r>
            <a:endParaRPr lang="en-US" sz="1200" dirty="0"/>
          </a:p>
        </p:txBody>
      </p:sp>
      <p:sp>
        <p:nvSpPr>
          <p:cNvPr id="35" name="Text 33"/>
          <p:cNvSpPr/>
          <p:nvPr/>
        </p:nvSpPr>
        <p:spPr>
          <a:xfrm>
            <a:off x="1280160" y="3685032"/>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description の磨き方</a:t>
            </a:r>
            <a:endParaRPr lang="en-US" sz="1200" dirty="0"/>
          </a:p>
        </p:txBody>
      </p:sp>
      <p:sp>
        <p:nvSpPr>
          <p:cNvPr id="36" name="Text 34"/>
          <p:cNvSpPr/>
          <p:nvPr/>
        </p:nvSpPr>
        <p:spPr>
          <a:xfrm>
            <a:off x="4572000" y="3685032"/>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発火率を上げるための記述テクニック</a:t>
            </a:r>
            <a:endParaRPr lang="en-US" sz="1000" dirty="0"/>
          </a:p>
        </p:txBody>
      </p:sp>
      <p:sp>
        <p:nvSpPr>
          <p:cNvPr id="37" name="Shape 35"/>
          <p:cNvSpPr/>
          <p:nvPr/>
        </p:nvSpPr>
        <p:spPr>
          <a:xfrm>
            <a:off x="640080" y="4041648"/>
            <a:ext cx="7863840" cy="347472"/>
          </a:xfrm>
          <a:prstGeom prst="rect">
            <a:avLst/>
          </a:prstGeom>
          <a:solidFill>
            <a:srgbClr val="FFFFFF"/>
          </a:solidFill>
          <a:ln/>
        </p:spPr>
      </p:sp>
      <p:sp>
        <p:nvSpPr>
          <p:cNvPr id="38" name="Text 36"/>
          <p:cNvSpPr/>
          <p:nvPr/>
        </p:nvSpPr>
        <p:spPr>
          <a:xfrm>
            <a:off x="731520" y="4041648"/>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09</a:t>
            </a:r>
            <a:endParaRPr lang="en-US" sz="1200" dirty="0"/>
          </a:p>
        </p:txBody>
      </p:sp>
      <p:sp>
        <p:nvSpPr>
          <p:cNvPr id="39" name="Text 37"/>
          <p:cNvSpPr/>
          <p:nvPr/>
        </p:nvSpPr>
        <p:spPr>
          <a:xfrm>
            <a:off x="1280160" y="4041648"/>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よくある失敗と注意点</a:t>
            </a:r>
            <a:endParaRPr lang="en-US" sz="1200" dirty="0"/>
          </a:p>
        </p:txBody>
      </p:sp>
      <p:sp>
        <p:nvSpPr>
          <p:cNvPr id="40" name="Text 38"/>
          <p:cNvSpPr/>
          <p:nvPr/>
        </p:nvSpPr>
        <p:spPr>
          <a:xfrm>
            <a:off x="4572000" y="4041648"/>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Nightly 前提の揺れ・slash 不具合・詰め込み過ぎ</a:t>
            </a:r>
            <a:endParaRPr lang="en-US" sz="1000" dirty="0"/>
          </a:p>
        </p:txBody>
      </p:sp>
      <p:sp>
        <p:nvSpPr>
          <p:cNvPr id="41" name="Shape 39"/>
          <p:cNvSpPr/>
          <p:nvPr/>
        </p:nvSpPr>
        <p:spPr>
          <a:xfrm>
            <a:off x="640080" y="4398264"/>
            <a:ext cx="7863840" cy="347472"/>
          </a:xfrm>
          <a:prstGeom prst="rect">
            <a:avLst/>
          </a:prstGeom>
          <a:solidFill>
            <a:srgbClr val="EBF2FC"/>
          </a:solidFill>
          <a:ln/>
        </p:spPr>
      </p:sp>
      <p:sp>
        <p:nvSpPr>
          <p:cNvPr id="42" name="Text 40"/>
          <p:cNvSpPr/>
          <p:nvPr/>
        </p:nvSpPr>
        <p:spPr>
          <a:xfrm>
            <a:off x="731520" y="4398264"/>
            <a:ext cx="457200" cy="347472"/>
          </a:xfrm>
          <a:prstGeom prst="rect">
            <a:avLst/>
          </a:prstGeom>
          <a:noFill/>
          <a:ln/>
        </p:spPr>
        <p:txBody>
          <a:bodyPr wrap="square" lIns="0" tIns="0" rIns="0" bIns="0" rtlCol="0" anchor="ctr"/>
          <a:lstStyle/>
          <a:p>
            <a:pPr indent="0" marL="0">
              <a:buNone/>
            </a:pPr>
            <a:r>
              <a:rPr lang="en-US" sz="1200" b="1" dirty="0">
                <a:solidFill>
                  <a:srgbClr val="E8913A"/>
                </a:solidFill>
                <a:latin typeface="Georgia" pitchFamily="34" charset="0"/>
                <a:ea typeface="Georgia" pitchFamily="34" charset="-122"/>
                <a:cs typeface="Georgia" pitchFamily="34" charset="-120"/>
              </a:rPr>
              <a:t>10</a:t>
            </a:r>
            <a:endParaRPr lang="en-US" sz="1200" dirty="0"/>
          </a:p>
        </p:txBody>
      </p:sp>
      <p:sp>
        <p:nvSpPr>
          <p:cNvPr id="43" name="Text 41"/>
          <p:cNvSpPr/>
          <p:nvPr/>
        </p:nvSpPr>
        <p:spPr>
          <a:xfrm>
            <a:off x="1280160" y="4398264"/>
            <a:ext cx="3200400" cy="347472"/>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段階的な育て方ロードマップ</a:t>
            </a:r>
            <a:endParaRPr lang="en-US" sz="1200" dirty="0"/>
          </a:p>
        </p:txBody>
      </p:sp>
      <p:sp>
        <p:nvSpPr>
          <p:cNvPr id="44" name="Text 42"/>
          <p:cNvSpPr/>
          <p:nvPr/>
        </p:nvSpPr>
        <p:spPr>
          <a:xfrm>
            <a:off x="4572000" y="4398264"/>
            <a:ext cx="3840480" cy="34747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最小構成から実務向けSkillへ</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01</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Agent Skills とは何か</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Text 5"/>
          <p:cNvSpPr/>
          <p:nvPr/>
        </p:nvSpPr>
        <p:spPr>
          <a:xfrm>
            <a:off x="822960" y="868680"/>
            <a:ext cx="777240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Cursor には3つの概念があり、それぞれ役割が異なります。Skills は「必要な時だけ読み込まれる専門知識・手順・スクリプトの束」で、常時コンテキストに入らないためコンテキストを汚しにくいのが特徴です。</a:t>
            </a:r>
            <a:endParaRPr lang="en-US" sz="1100" dirty="0"/>
          </a:p>
        </p:txBody>
      </p:sp>
      <p:sp>
        <p:nvSpPr>
          <p:cNvPr id="8" name="Shape 6"/>
          <p:cNvSpPr/>
          <p:nvPr/>
        </p:nvSpPr>
        <p:spPr>
          <a:xfrm>
            <a:off x="457200" y="1508760"/>
            <a:ext cx="2651760" cy="338328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9" name="Shape 7"/>
          <p:cNvSpPr/>
          <p:nvPr/>
        </p:nvSpPr>
        <p:spPr>
          <a:xfrm>
            <a:off x="457200" y="1508760"/>
            <a:ext cx="2651760" cy="502920"/>
          </a:xfrm>
          <a:prstGeom prst="rect">
            <a:avLst/>
          </a:prstGeom>
          <a:solidFill>
            <a:srgbClr val="E2E8F0"/>
          </a:solidFill>
          <a:ln/>
        </p:spPr>
      </p:sp>
      <p:sp>
        <p:nvSpPr>
          <p:cNvPr id="10" name="Text 8"/>
          <p:cNvSpPr/>
          <p:nvPr/>
        </p:nvSpPr>
        <p:spPr>
          <a:xfrm>
            <a:off x="594360" y="1536192"/>
            <a:ext cx="2286000" cy="45720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Rules</a:t>
            </a:r>
            <a:endParaRPr lang="en-US" sz="1600" dirty="0"/>
          </a:p>
        </p:txBody>
      </p:sp>
      <p:sp>
        <p:nvSpPr>
          <p:cNvPr id="11" name="Text 9"/>
          <p:cNvSpPr/>
          <p:nvPr/>
        </p:nvSpPr>
        <p:spPr>
          <a:xfrm>
            <a:off x="594360" y="2103120"/>
            <a:ext cx="2377440" cy="320040"/>
          </a:xfrm>
          <a:prstGeom prst="rect">
            <a:avLst/>
          </a:prstGeom>
          <a:noFill/>
          <a:ln/>
        </p:spPr>
        <p:txBody>
          <a:bodyPr wrap="square" lIns="0" tIns="0" rIns="0" bIns="0" rtlCol="0" anchor="ctr"/>
          <a:lstStyle/>
          <a:p>
            <a:pPr indent="0" marL="0">
              <a:buNone/>
            </a:pPr>
            <a:r>
              <a:rPr lang="en-US" sz="1100" b="1" dirty="0">
                <a:solidFill>
                  <a:srgbClr val="E8913A"/>
                </a:solidFill>
                <a:latin typeface="Calibri" pitchFamily="34" charset="0"/>
                <a:ea typeface="Calibri" pitchFamily="34" charset="-122"/>
                <a:cs typeface="Calibri" pitchFamily="34" charset="-120"/>
              </a:rPr>
              <a:t>常時効かせる永続的な指示</a:t>
            </a:r>
            <a:endParaRPr lang="en-US" sz="1100" dirty="0"/>
          </a:p>
        </p:txBody>
      </p:sp>
      <p:sp>
        <p:nvSpPr>
          <p:cNvPr id="12" name="Text 10"/>
          <p:cNvSpPr/>
          <p:nvPr/>
        </p:nvSpPr>
        <p:spPr>
          <a:xfrm>
            <a:off x="594360" y="2468880"/>
            <a:ext cx="2377440" cy="9144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コーディング規約、禁止事項、命名規則など「毎回守ってほしいこと」を書く。常にコンテキストに入る。</a:t>
            </a:r>
            <a:endParaRPr lang="en-US" sz="1000" dirty="0"/>
          </a:p>
        </p:txBody>
      </p:sp>
      <p:sp>
        <p:nvSpPr>
          <p:cNvPr id="13" name="Shape 11"/>
          <p:cNvSpPr/>
          <p:nvPr/>
        </p:nvSpPr>
        <p:spPr>
          <a:xfrm>
            <a:off x="594360" y="3429000"/>
            <a:ext cx="2377440" cy="36576"/>
          </a:xfrm>
          <a:prstGeom prst="rect">
            <a:avLst/>
          </a:prstGeom>
          <a:solidFill>
            <a:srgbClr val="E2E8F0"/>
          </a:solidFill>
          <a:ln/>
        </p:spPr>
      </p:sp>
      <p:sp>
        <p:nvSpPr>
          <p:cNvPr id="14" name="Text 12"/>
          <p:cNvSpPr/>
          <p:nvPr/>
        </p:nvSpPr>
        <p:spPr>
          <a:xfrm>
            <a:off x="594360" y="3520440"/>
            <a:ext cx="2377440" cy="274320"/>
          </a:xfrm>
          <a:prstGeom prst="rect">
            <a:avLst/>
          </a:prstGeom>
          <a:noFill/>
          <a:ln/>
        </p:spPr>
        <p:txBody>
          <a:bodyPr wrap="square" lIns="0" tIns="0" rIns="0" bIns="0" rtlCol="0" anchor="ctr"/>
          <a:lstStyle/>
          <a:p>
            <a:pPr indent="0" marL="0">
              <a:buNone/>
            </a:pPr>
            <a:r>
              <a:rPr lang="en-US" sz="1000" b="1" dirty="0">
                <a:solidFill>
                  <a:srgbClr val="3B7DD8"/>
                </a:solidFill>
                <a:latin typeface="Calibri" pitchFamily="34" charset="0"/>
                <a:ea typeface="Calibri" pitchFamily="34" charset="-122"/>
                <a:cs typeface="Calibri" pitchFamily="34" charset="-120"/>
              </a:rPr>
              <a:t>用途：毎回の前提条件</a:t>
            </a:r>
            <a:endParaRPr lang="en-US" sz="1000" dirty="0"/>
          </a:p>
        </p:txBody>
      </p:sp>
      <p:sp>
        <p:nvSpPr>
          <p:cNvPr id="15" name="Text 13"/>
          <p:cNvSpPr/>
          <p:nvPr/>
        </p:nvSpPr>
        <p:spPr>
          <a:xfrm>
            <a:off x="594360" y="3794760"/>
            <a:ext cx="237744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例：「変数名はcamelCaseで書く」</a:t>
            </a:r>
            <a:endParaRPr lang="en-US" sz="900" dirty="0"/>
          </a:p>
        </p:txBody>
      </p:sp>
      <p:sp>
        <p:nvSpPr>
          <p:cNvPr id="16" name="Shape 14"/>
          <p:cNvSpPr/>
          <p:nvPr/>
        </p:nvSpPr>
        <p:spPr>
          <a:xfrm>
            <a:off x="3291840" y="1508760"/>
            <a:ext cx="2651760" cy="338328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7" name="Shape 15"/>
          <p:cNvSpPr/>
          <p:nvPr/>
        </p:nvSpPr>
        <p:spPr>
          <a:xfrm>
            <a:off x="3291840" y="1508760"/>
            <a:ext cx="2651760" cy="502920"/>
          </a:xfrm>
          <a:prstGeom prst="rect">
            <a:avLst/>
          </a:prstGeom>
          <a:solidFill>
            <a:srgbClr val="D6E6F9"/>
          </a:solidFill>
          <a:ln/>
        </p:spPr>
      </p:sp>
      <p:sp>
        <p:nvSpPr>
          <p:cNvPr id="18" name="Text 16"/>
          <p:cNvSpPr/>
          <p:nvPr/>
        </p:nvSpPr>
        <p:spPr>
          <a:xfrm>
            <a:off x="3429000" y="1536192"/>
            <a:ext cx="2286000" cy="45720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Commands</a:t>
            </a:r>
            <a:endParaRPr lang="en-US" sz="1600" dirty="0"/>
          </a:p>
        </p:txBody>
      </p:sp>
      <p:sp>
        <p:nvSpPr>
          <p:cNvPr id="19" name="Text 17"/>
          <p:cNvSpPr/>
          <p:nvPr/>
        </p:nvSpPr>
        <p:spPr>
          <a:xfrm>
            <a:off x="3429000" y="2103120"/>
            <a:ext cx="2377440" cy="320040"/>
          </a:xfrm>
          <a:prstGeom prst="rect">
            <a:avLst/>
          </a:prstGeom>
          <a:noFill/>
          <a:ln/>
        </p:spPr>
        <p:txBody>
          <a:bodyPr wrap="square" lIns="0" tIns="0" rIns="0" bIns="0" rtlCol="0" anchor="ctr"/>
          <a:lstStyle/>
          <a:p>
            <a:pPr indent="0" marL="0">
              <a:buNone/>
            </a:pPr>
            <a:r>
              <a:rPr lang="en-US" sz="1100" b="1" dirty="0">
                <a:solidFill>
                  <a:srgbClr val="E8913A"/>
                </a:solidFill>
                <a:latin typeface="Calibri" pitchFamily="34" charset="0"/>
                <a:ea typeface="Calibri" pitchFamily="34" charset="-122"/>
                <a:cs typeface="Calibri" pitchFamily="34" charset="-120"/>
              </a:rPr>
              <a:t>/ で使う反復ワークフロー</a:t>
            </a:r>
            <a:endParaRPr lang="en-US" sz="1100" dirty="0"/>
          </a:p>
        </p:txBody>
      </p:sp>
      <p:sp>
        <p:nvSpPr>
          <p:cNvPr id="20" name="Text 18"/>
          <p:cNvSpPr/>
          <p:nvPr/>
        </p:nvSpPr>
        <p:spPr>
          <a:xfrm>
            <a:off x="3429000" y="2468880"/>
            <a:ext cx="2377440" cy="9144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コマンドで呼び出す定型処理。決まった手順を毎回同じ流れで実行したいときに使う。</a:t>
            </a:r>
            <a:endParaRPr lang="en-US" sz="1000" dirty="0"/>
          </a:p>
        </p:txBody>
      </p:sp>
      <p:sp>
        <p:nvSpPr>
          <p:cNvPr id="21" name="Shape 19"/>
          <p:cNvSpPr/>
          <p:nvPr/>
        </p:nvSpPr>
        <p:spPr>
          <a:xfrm>
            <a:off x="3429000" y="3429000"/>
            <a:ext cx="2377440" cy="36576"/>
          </a:xfrm>
          <a:prstGeom prst="rect">
            <a:avLst/>
          </a:prstGeom>
          <a:solidFill>
            <a:srgbClr val="E2E8F0"/>
          </a:solidFill>
          <a:ln/>
        </p:spPr>
      </p:sp>
      <p:sp>
        <p:nvSpPr>
          <p:cNvPr id="22" name="Text 20"/>
          <p:cNvSpPr/>
          <p:nvPr/>
        </p:nvSpPr>
        <p:spPr>
          <a:xfrm>
            <a:off x="3429000" y="3520440"/>
            <a:ext cx="2377440" cy="274320"/>
          </a:xfrm>
          <a:prstGeom prst="rect">
            <a:avLst/>
          </a:prstGeom>
          <a:noFill/>
          <a:ln/>
        </p:spPr>
        <p:txBody>
          <a:bodyPr wrap="square" lIns="0" tIns="0" rIns="0" bIns="0" rtlCol="0" anchor="ctr"/>
          <a:lstStyle/>
          <a:p>
            <a:pPr indent="0" marL="0">
              <a:buNone/>
            </a:pPr>
            <a:r>
              <a:rPr lang="en-US" sz="1000" b="1" dirty="0">
                <a:solidFill>
                  <a:srgbClr val="3B7DD8"/>
                </a:solidFill>
                <a:latin typeface="Calibri" pitchFamily="34" charset="0"/>
                <a:ea typeface="Calibri" pitchFamily="34" charset="-122"/>
                <a:cs typeface="Calibri" pitchFamily="34" charset="-120"/>
              </a:rPr>
              <a:t>用途：繰り返し作業の自動化</a:t>
            </a:r>
            <a:endParaRPr lang="en-US" sz="1000" dirty="0"/>
          </a:p>
        </p:txBody>
      </p:sp>
      <p:sp>
        <p:nvSpPr>
          <p:cNvPr id="23" name="Text 21"/>
          <p:cNvSpPr/>
          <p:nvPr/>
        </p:nvSpPr>
        <p:spPr>
          <a:xfrm>
            <a:off x="3429000" y="3794760"/>
            <a:ext cx="237744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例：「/deploy でビルド→テスト→デプロイ」</a:t>
            </a:r>
            <a:endParaRPr lang="en-US" sz="900" dirty="0"/>
          </a:p>
        </p:txBody>
      </p:sp>
      <p:sp>
        <p:nvSpPr>
          <p:cNvPr id="24" name="Shape 22"/>
          <p:cNvSpPr/>
          <p:nvPr/>
        </p:nvSpPr>
        <p:spPr>
          <a:xfrm>
            <a:off x="6126480" y="1508760"/>
            <a:ext cx="2651760" cy="338328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5" name="Shape 23"/>
          <p:cNvSpPr/>
          <p:nvPr/>
        </p:nvSpPr>
        <p:spPr>
          <a:xfrm>
            <a:off x="6126480" y="1508760"/>
            <a:ext cx="2651760" cy="502920"/>
          </a:xfrm>
          <a:prstGeom prst="rect">
            <a:avLst/>
          </a:prstGeom>
          <a:solidFill>
            <a:srgbClr val="FFF3E6"/>
          </a:solidFill>
          <a:ln/>
        </p:spPr>
      </p:sp>
      <p:sp>
        <p:nvSpPr>
          <p:cNvPr id="26" name="Text 24"/>
          <p:cNvSpPr/>
          <p:nvPr/>
        </p:nvSpPr>
        <p:spPr>
          <a:xfrm>
            <a:off x="6263640" y="1536192"/>
            <a:ext cx="2286000" cy="457200"/>
          </a:xfrm>
          <a:prstGeom prst="rect">
            <a:avLst/>
          </a:prstGeom>
          <a:noFill/>
          <a:ln/>
        </p:spPr>
        <p:txBody>
          <a:bodyPr wrap="square" lIns="0" tIns="0" rIns="0" bIns="0" rtlCol="0" anchor="ctr"/>
          <a:lstStyle/>
          <a:p>
            <a:pPr indent="0" marL="0">
              <a:buNone/>
            </a:pPr>
            <a:r>
              <a:rPr lang="en-US" sz="1600" b="1" dirty="0">
                <a:solidFill>
                  <a:srgbClr val="1A2744"/>
                </a:solidFill>
                <a:latin typeface="Georgia" pitchFamily="34" charset="0"/>
                <a:ea typeface="Georgia" pitchFamily="34" charset="-122"/>
                <a:cs typeface="Georgia" pitchFamily="34" charset="-120"/>
              </a:rPr>
              <a:t>Skills ★</a:t>
            </a:r>
            <a:endParaRPr lang="en-US" sz="1600" dirty="0"/>
          </a:p>
        </p:txBody>
      </p:sp>
      <p:sp>
        <p:nvSpPr>
          <p:cNvPr id="27" name="Text 25"/>
          <p:cNvSpPr/>
          <p:nvPr/>
        </p:nvSpPr>
        <p:spPr>
          <a:xfrm>
            <a:off x="6263640" y="2103120"/>
            <a:ext cx="2377440" cy="320040"/>
          </a:xfrm>
          <a:prstGeom prst="rect">
            <a:avLst/>
          </a:prstGeom>
          <a:noFill/>
          <a:ln/>
        </p:spPr>
        <p:txBody>
          <a:bodyPr wrap="square" lIns="0" tIns="0" rIns="0" bIns="0" rtlCol="0" anchor="ctr"/>
          <a:lstStyle/>
          <a:p>
            <a:pPr indent="0" marL="0">
              <a:buNone/>
            </a:pPr>
            <a:r>
              <a:rPr lang="en-US" sz="1100" b="1" dirty="0">
                <a:solidFill>
                  <a:srgbClr val="E8913A"/>
                </a:solidFill>
                <a:latin typeface="Calibri" pitchFamily="34" charset="0"/>
                <a:ea typeface="Calibri" pitchFamily="34" charset="-122"/>
                <a:cs typeface="Calibri" pitchFamily="34" charset="-120"/>
              </a:rPr>
              <a:t>必要時だけ読み込む専門知識の束</a:t>
            </a:r>
            <a:endParaRPr lang="en-US" sz="1100" dirty="0"/>
          </a:p>
        </p:txBody>
      </p:sp>
      <p:sp>
        <p:nvSpPr>
          <p:cNvPr id="28" name="Text 26"/>
          <p:cNvSpPr/>
          <p:nvPr/>
        </p:nvSpPr>
        <p:spPr>
          <a:xfrm>
            <a:off x="6263640" y="2468880"/>
            <a:ext cx="2377440" cy="9144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Agent が関連性を判断し動的に読み込む。SKILL.md を中心に references/ や scripts/ を含む。コンテキストを節約できる。</a:t>
            </a:r>
            <a:endParaRPr lang="en-US" sz="1000" dirty="0"/>
          </a:p>
        </p:txBody>
      </p:sp>
      <p:sp>
        <p:nvSpPr>
          <p:cNvPr id="29" name="Shape 27"/>
          <p:cNvSpPr/>
          <p:nvPr/>
        </p:nvSpPr>
        <p:spPr>
          <a:xfrm>
            <a:off x="6263640" y="3429000"/>
            <a:ext cx="2377440" cy="36576"/>
          </a:xfrm>
          <a:prstGeom prst="rect">
            <a:avLst/>
          </a:prstGeom>
          <a:solidFill>
            <a:srgbClr val="E2E8F0"/>
          </a:solidFill>
          <a:ln/>
        </p:spPr>
      </p:sp>
      <p:sp>
        <p:nvSpPr>
          <p:cNvPr id="30" name="Text 28"/>
          <p:cNvSpPr/>
          <p:nvPr/>
        </p:nvSpPr>
        <p:spPr>
          <a:xfrm>
            <a:off x="6263640" y="3520440"/>
            <a:ext cx="2377440" cy="274320"/>
          </a:xfrm>
          <a:prstGeom prst="rect">
            <a:avLst/>
          </a:prstGeom>
          <a:noFill/>
          <a:ln/>
        </p:spPr>
        <p:txBody>
          <a:bodyPr wrap="square" lIns="0" tIns="0" rIns="0" bIns="0" rtlCol="0" anchor="ctr"/>
          <a:lstStyle/>
          <a:p>
            <a:pPr indent="0" marL="0">
              <a:buNone/>
            </a:pPr>
            <a:r>
              <a:rPr lang="en-US" sz="1000" b="1" dirty="0">
                <a:solidFill>
                  <a:srgbClr val="3B7DD8"/>
                </a:solidFill>
                <a:latin typeface="Calibri" pitchFamily="34" charset="0"/>
                <a:ea typeface="Calibri" pitchFamily="34" charset="-122"/>
                <a:cs typeface="Calibri" pitchFamily="34" charset="-120"/>
              </a:rPr>
              <a:t>用途：特定作業の手順まとめ</a:t>
            </a:r>
            <a:endParaRPr lang="en-US" sz="1000" dirty="0"/>
          </a:p>
        </p:txBody>
      </p:sp>
      <p:sp>
        <p:nvSpPr>
          <p:cNvPr id="31" name="Text 29"/>
          <p:cNvSpPr/>
          <p:nvPr/>
        </p:nvSpPr>
        <p:spPr>
          <a:xfrm>
            <a:off x="6263640" y="3794760"/>
            <a:ext cx="237744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例：「コードレビューの観点と手順」</a:t>
            </a:r>
            <a:endParaRPr lang="en-US" sz="900" dirty="0"/>
          </a:p>
        </p:txBody>
      </p:sp>
      <p:sp>
        <p:nvSpPr>
          <p:cNvPr id="32" name="Shape 30"/>
          <p:cNvSpPr/>
          <p:nvPr/>
        </p:nvSpPr>
        <p:spPr>
          <a:xfrm>
            <a:off x="457200" y="4617720"/>
            <a:ext cx="8229600" cy="36576"/>
          </a:xfrm>
          <a:prstGeom prst="rect">
            <a:avLst/>
          </a:prstGeom>
          <a:solidFill>
            <a:srgbClr val="1A2744"/>
          </a:solidFill>
          <a:ln/>
        </p:spPr>
      </p:sp>
      <p:sp>
        <p:nvSpPr>
          <p:cNvPr id="33" name="Text 31"/>
          <p:cNvSpPr/>
          <p:nvPr/>
        </p:nvSpPr>
        <p:spPr>
          <a:xfrm>
            <a:off x="457200" y="4663440"/>
            <a:ext cx="8229600" cy="32004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要点：「毎回守ること」→ Rules、「特定作業のやり方」→ Skills、「定型処理の自動化」→ Commands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02</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準備：Nightly への切替と配置場所</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Shape 5"/>
          <p:cNvSpPr/>
          <p:nvPr/>
        </p:nvSpPr>
        <p:spPr>
          <a:xfrm>
            <a:off x="457200" y="914400"/>
            <a:ext cx="3931920" cy="1828800"/>
          </a:xfrm>
          <a:prstGeom prst="rect">
            <a:avLst/>
          </a:prstGeom>
          <a:solidFill>
            <a:srgbClr val="EBF2FC"/>
          </a:solidFill>
          <a:ln/>
          <a:effectLst>
            <a:outerShdw sx="100000" sy="100000" kx="0" ky="0" algn="bl" rotWithShape="0" blurRad="50800" dist="25400" dir="8100000">
              <a:srgbClr val="000000">
                <a:alpha val="8000"/>
              </a:srgbClr>
            </a:outerShdw>
          </a:effectLst>
        </p:spPr>
      </p:sp>
      <p:sp>
        <p:nvSpPr>
          <p:cNvPr id="8" name="Text 6"/>
          <p:cNvSpPr/>
          <p:nvPr/>
        </p:nvSpPr>
        <p:spPr>
          <a:xfrm>
            <a:off x="640080" y="960120"/>
            <a:ext cx="3657600" cy="32004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準備①  Cursor を Nightly チャネルにする</a:t>
            </a:r>
            <a:endParaRPr lang="en-US" sz="1300" dirty="0"/>
          </a:p>
        </p:txBody>
      </p:sp>
      <p:sp>
        <p:nvSpPr>
          <p:cNvPr id="9" name="Text 7"/>
          <p:cNvSpPr/>
          <p:nvPr/>
        </p:nvSpPr>
        <p:spPr>
          <a:xfrm>
            <a:off x="640080" y="1325880"/>
            <a:ext cx="3566160" cy="1371600"/>
          </a:xfrm>
          <a:prstGeom prst="rect">
            <a:avLst/>
          </a:prstGeom>
          <a:noFill/>
          <a:ln/>
        </p:spPr>
        <p:txBody>
          <a:bodyPr wrap="square" lIns="0" tIns="0" rIns="0" bIns="0" rtlCol="0" anchor="ctr"/>
          <a:lstStyle/>
          <a:p>
            <a:pPr indent="0" marL="0">
              <a:lnSpc>
                <a:spcPct val="110000"/>
              </a:lnSpc>
              <a:buNone/>
            </a:pPr>
            <a:r>
              <a:rPr lang="en-US" sz="1000" dirty="0">
                <a:solidFill>
                  <a:srgbClr val="1E293B"/>
                </a:solidFill>
              </a:rPr>
              <a:t>Agent Skills は Nightly リリースチャネル前提です（2026年1月時点公式案内）。</a:t>
            </a:r>
            <a:endParaRPr lang="en-US" sz="1000" dirty="0"/>
          </a:p>
          <a:p>
            <a:pPr indent="0" marL="0">
              <a:lnSpc>
                <a:spcPct val="110000"/>
              </a:lnSpc>
              <a:buNone/>
            </a:pPr>
            <a:endParaRPr lang="en-US" sz="1000" dirty="0"/>
          </a:p>
          <a:p>
            <a:pPr indent="0" marL="0">
              <a:lnSpc>
                <a:spcPct val="110000"/>
              </a:lnSpc>
              <a:buNone/>
            </a:pPr>
            <a:r>
              <a:rPr lang="en-US" sz="1000" b="1" dirty="0">
                <a:solidFill>
                  <a:srgbClr val="1A2744"/>
                </a:solidFill>
              </a:rPr>
              <a:t>手順：</a:t>
            </a:r>
            <a:endParaRPr lang="en-US" sz="1000" dirty="0"/>
          </a:p>
          <a:p>
            <a:pPr indent="0" marL="0">
              <a:lnSpc>
                <a:spcPct val="110000"/>
              </a:lnSpc>
              <a:buNone/>
            </a:pPr>
            <a:r>
              <a:rPr lang="en-US" sz="1000" dirty="0">
                <a:solidFill>
                  <a:srgbClr val="1E293B"/>
                </a:solidFill>
              </a:rPr>
              <a:t>1. Settings を開く</a:t>
            </a:r>
            <a:endParaRPr lang="en-US" sz="1000" dirty="0"/>
          </a:p>
          <a:p>
            <a:pPr indent="0" marL="0">
              <a:lnSpc>
                <a:spcPct val="110000"/>
              </a:lnSpc>
              <a:buNone/>
            </a:pPr>
            <a:r>
              <a:rPr lang="en-US" sz="1000" dirty="0">
                <a:solidFill>
                  <a:srgbClr val="1E293B"/>
                </a:solidFill>
              </a:rPr>
              <a:t>2. Beta セクションへ移動</a:t>
            </a:r>
            <a:endParaRPr lang="en-US" sz="1000" dirty="0"/>
          </a:p>
          <a:p>
            <a:pPr indent="0" marL="0">
              <a:lnSpc>
                <a:spcPct val="110000"/>
              </a:lnSpc>
              <a:buNone/>
            </a:pPr>
            <a:r>
              <a:rPr lang="en-US" sz="1000" dirty="0">
                <a:solidFill>
                  <a:srgbClr val="1E293B"/>
                </a:solidFill>
              </a:rPr>
              <a:t>3. 更新チャネルを「Nightly」に切替</a:t>
            </a:r>
            <a:endParaRPr lang="en-US" sz="1000" dirty="0"/>
          </a:p>
          <a:p>
            <a:pPr indent="0" marL="0">
              <a:lnSpc>
                <a:spcPct val="110000"/>
              </a:lnSpc>
              <a:buNone/>
            </a:pPr>
            <a:r>
              <a:rPr lang="en-US" sz="1000" dirty="0">
                <a:solidFill>
                  <a:srgbClr val="1E293B"/>
                </a:solidFill>
              </a:rPr>
              <a:t>4. Cursor を再起動</a:t>
            </a:r>
            <a:endParaRPr lang="en-US" sz="1000" dirty="0"/>
          </a:p>
          <a:p>
            <a:pPr indent="0" marL="0">
              <a:lnSpc>
                <a:spcPct val="110000"/>
              </a:lnSpc>
              <a:buNone/>
            </a:pPr>
            <a:endParaRPr lang="en-US" sz="1000" dirty="0"/>
          </a:p>
          <a:p>
            <a:pPr indent="0" marL="0">
              <a:lnSpc>
                <a:spcPct val="110000"/>
              </a:lnSpc>
              <a:buNone/>
            </a:pPr>
            <a:r>
              <a:rPr lang="en-US" sz="900" dirty="0">
                <a:solidFill>
                  <a:srgbClr val="DC2626"/>
                </a:solidFill>
              </a:rPr>
              <a:t>※ Stable では Skills が表示されない・不安定な場合あり</a:t>
            </a:r>
            <a:endParaRPr lang="en-US" sz="1000" dirty="0"/>
          </a:p>
        </p:txBody>
      </p:sp>
      <p:sp>
        <p:nvSpPr>
          <p:cNvPr id="10" name="Shape 8"/>
          <p:cNvSpPr/>
          <p:nvPr/>
        </p:nvSpPr>
        <p:spPr>
          <a:xfrm>
            <a:off x="4754880" y="914400"/>
            <a:ext cx="3931920" cy="1828800"/>
          </a:xfrm>
          <a:prstGeom prst="rect">
            <a:avLst/>
          </a:prstGeom>
          <a:solidFill>
            <a:srgbClr val="FFF3E6"/>
          </a:solidFill>
          <a:ln/>
          <a:effectLst>
            <a:outerShdw sx="100000" sy="100000" kx="0" ky="0" algn="bl" rotWithShape="0" blurRad="50800" dist="25400" dir="8100000">
              <a:srgbClr val="000000">
                <a:alpha val="8000"/>
              </a:srgbClr>
            </a:outerShdw>
          </a:effectLst>
        </p:spPr>
      </p:sp>
      <p:sp>
        <p:nvSpPr>
          <p:cNvPr id="11" name="Text 9"/>
          <p:cNvSpPr/>
          <p:nvPr/>
        </p:nvSpPr>
        <p:spPr>
          <a:xfrm>
            <a:off x="4937760" y="960120"/>
            <a:ext cx="3657600" cy="32004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準備②  Skill を置く場所を決める</a:t>
            </a:r>
            <a:endParaRPr lang="en-US" sz="1300" dirty="0"/>
          </a:p>
        </p:txBody>
      </p:sp>
      <p:sp>
        <p:nvSpPr>
          <p:cNvPr id="12" name="Text 10"/>
          <p:cNvSpPr/>
          <p:nvPr/>
        </p:nvSpPr>
        <p:spPr>
          <a:xfrm>
            <a:off x="4937760" y="1325880"/>
            <a:ext cx="3566160" cy="1371600"/>
          </a:xfrm>
          <a:prstGeom prst="rect">
            <a:avLst/>
          </a:prstGeom>
          <a:noFill/>
          <a:ln/>
        </p:spPr>
        <p:txBody>
          <a:bodyPr wrap="square" lIns="0" tIns="0" rIns="0" bIns="0" rtlCol="0" anchor="ctr"/>
          <a:lstStyle/>
          <a:p>
            <a:pPr indent="0" marL="0">
              <a:lnSpc>
                <a:spcPct val="110000"/>
              </a:lnSpc>
              <a:buNone/>
            </a:pPr>
            <a:r>
              <a:rPr lang="en-US" sz="1000" dirty="0">
                <a:solidFill>
                  <a:srgbClr val="1E293B"/>
                </a:solidFill>
              </a:rPr>
              <a:t>2つの配置先があります：</a:t>
            </a:r>
            <a:endParaRPr lang="en-US" sz="1000" dirty="0"/>
          </a:p>
          <a:p>
            <a:pPr indent="0" marL="0">
              <a:lnSpc>
                <a:spcPct val="110000"/>
              </a:lnSpc>
              <a:buNone/>
            </a:pPr>
            <a:endParaRPr lang="en-US" sz="1000" dirty="0"/>
          </a:p>
          <a:p>
            <a:pPr indent="0" marL="0">
              <a:lnSpc>
                <a:spcPct val="110000"/>
              </a:lnSpc>
              <a:buNone/>
            </a:pPr>
            <a:r>
              <a:rPr lang="en-US" sz="1000" b="1" dirty="0">
                <a:solidFill>
                  <a:srgbClr val="1A2744"/>
                </a:solidFill>
              </a:rPr>
              <a:t>■ プロジェクト限定（推奨）</a:t>
            </a:r>
            <a:endParaRPr lang="en-US" sz="1000" dirty="0"/>
          </a:p>
          <a:p>
            <a:pPr indent="0" marL="0">
              <a:lnSpc>
                <a:spcPct val="110000"/>
              </a:lnSpc>
              <a:buNone/>
            </a:pPr>
            <a:r>
              <a:rPr lang="en-US" sz="1000" dirty="0">
                <a:solidFill>
                  <a:srgbClr val="3B7DD8"/>
                </a:solidFill>
                <a:latin typeface="Consolas" pitchFamily="34" charset="0"/>
                <a:ea typeface="Consolas" pitchFamily="34" charset="-122"/>
                <a:cs typeface="Consolas" pitchFamily="34" charset="-120"/>
              </a:rPr>
              <a:t>  .cursor/skills/my-skill/</a:t>
            </a:r>
            <a:endParaRPr lang="en-US" sz="1000" dirty="0"/>
          </a:p>
          <a:p>
            <a:pPr indent="0" marL="0">
              <a:lnSpc>
                <a:spcPct val="110000"/>
              </a:lnSpc>
              <a:buNone/>
            </a:pPr>
            <a:r>
              <a:rPr lang="en-US" sz="900" dirty="0">
                <a:solidFill>
                  <a:srgbClr val="475569"/>
                </a:solidFill>
              </a:rPr>
              <a:t>  → Git管理しやすく、壊しても戻しやすい</a:t>
            </a:r>
            <a:endParaRPr lang="en-US" sz="1000" dirty="0"/>
          </a:p>
          <a:p>
            <a:pPr indent="0" marL="0">
              <a:lnSpc>
                <a:spcPct val="110000"/>
              </a:lnSpc>
              <a:buNone/>
            </a:pPr>
            <a:endParaRPr lang="en-US" sz="1000" dirty="0"/>
          </a:p>
          <a:p>
            <a:pPr indent="0" marL="0">
              <a:lnSpc>
                <a:spcPct val="110000"/>
              </a:lnSpc>
              <a:buNone/>
            </a:pPr>
            <a:r>
              <a:rPr lang="en-US" sz="1000" b="1" dirty="0">
                <a:solidFill>
                  <a:srgbClr val="1A2744"/>
                </a:solidFill>
              </a:rPr>
              <a:t>■ 全プロジェクト共通</a:t>
            </a:r>
            <a:endParaRPr lang="en-US" sz="1000" dirty="0"/>
          </a:p>
          <a:p>
            <a:pPr indent="0" marL="0">
              <a:lnSpc>
                <a:spcPct val="110000"/>
              </a:lnSpc>
              <a:buNone/>
            </a:pPr>
            <a:r>
              <a:rPr lang="en-US" sz="1000" dirty="0">
                <a:solidFill>
                  <a:srgbClr val="3B7DD8"/>
                </a:solidFill>
                <a:latin typeface="Consolas" pitchFamily="34" charset="0"/>
                <a:ea typeface="Consolas" pitchFamily="34" charset="-122"/>
                <a:cs typeface="Consolas" pitchFamily="34" charset="-120"/>
              </a:rPr>
              <a:t>  ~/.cursor/skills/my-skill/</a:t>
            </a:r>
            <a:endParaRPr lang="en-US" sz="1000" dirty="0"/>
          </a:p>
          <a:p>
            <a:pPr indent="0" marL="0">
              <a:lnSpc>
                <a:spcPct val="110000"/>
              </a:lnSpc>
              <a:buNone/>
            </a:pPr>
            <a:r>
              <a:rPr lang="en-US" sz="900" dirty="0">
                <a:solidFill>
                  <a:srgbClr val="475569"/>
                </a:solidFill>
              </a:rPr>
              <a:t>  → どのプロジェクトでも使える</a:t>
            </a:r>
            <a:endParaRPr lang="en-US" sz="1000" dirty="0"/>
          </a:p>
        </p:txBody>
      </p:sp>
      <p:sp>
        <p:nvSpPr>
          <p:cNvPr id="13" name="Shape 11"/>
          <p:cNvSpPr/>
          <p:nvPr/>
        </p:nvSpPr>
        <p:spPr>
          <a:xfrm>
            <a:off x="457200" y="2926080"/>
            <a:ext cx="8229600" cy="1965960"/>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4" name="Text 12"/>
          <p:cNvSpPr/>
          <p:nvPr/>
        </p:nvSpPr>
        <p:spPr>
          <a:xfrm>
            <a:off x="640080" y="2971800"/>
            <a:ext cx="7863840" cy="32004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準備③  Skill 名の制約（重要）</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3337560"/>
          <a:ext cx="7863840" cy="914400"/>
        </p:xfrm>
        <a:graphic>
          <a:graphicData uri="http://schemas.openxmlformats.org/drawingml/2006/table">
            <a:tbl>
              <a:tblPr/>
              <a:tblGrid>
                <a:gridCol w="1828800"/>
                <a:gridCol w="3474720"/>
                <a:gridCol w="256032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項目</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制約内容</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備考</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小文字・数字・ハイフンのみ、最大64文字</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先頭末尾ハイフン不可、連続ハイフン不可</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name とフォルダ名</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一致していること（必須）</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不一致は発火しない最大原因の1つ</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1〜1024文字</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「何をするか」+「いつ使うべきか」を含める</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6" name="Shape 13"/>
          <p:cNvSpPr/>
          <p:nvPr/>
        </p:nvSpPr>
        <p:spPr>
          <a:xfrm>
            <a:off x="640080" y="4434840"/>
            <a:ext cx="7863840" cy="365760"/>
          </a:xfrm>
          <a:prstGeom prst="rect">
            <a:avLst/>
          </a:prstGeom>
          <a:solidFill>
            <a:srgbClr val="FEE2E2"/>
          </a:solidFill>
          <a:ln/>
        </p:spPr>
      </p:sp>
      <p:sp>
        <p:nvSpPr>
          <p:cNvPr id="17" name="Text 14"/>
          <p:cNvSpPr/>
          <p:nvPr/>
        </p:nvSpPr>
        <p:spPr>
          <a:xfrm>
            <a:off x="822960" y="4434840"/>
            <a:ext cx="7498080" cy="36576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 発火しない原因の多くは、name とフォルダ名の不一致、または description が弱すぎて Agent が関連性を判断できないことです。</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03</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最短で動かす手順（4ステップ）</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Shape 5"/>
          <p:cNvSpPr/>
          <p:nvPr/>
        </p:nvSpPr>
        <p:spPr>
          <a:xfrm>
            <a:off x="457200" y="914400"/>
            <a:ext cx="914400" cy="292608"/>
          </a:xfrm>
          <a:prstGeom prst="rect">
            <a:avLst/>
          </a:prstGeom>
          <a:solidFill>
            <a:srgbClr val="1A2744"/>
          </a:solidFill>
          <a:ln/>
        </p:spPr>
      </p:sp>
      <p:sp>
        <p:nvSpPr>
          <p:cNvPr id="8" name="Text 6"/>
          <p:cNvSpPr/>
          <p:nvPr/>
        </p:nvSpPr>
        <p:spPr>
          <a:xfrm>
            <a:off x="457200" y="914400"/>
            <a:ext cx="9144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1</a:t>
            </a:r>
            <a:endParaRPr lang="en-US" sz="1100" dirty="0"/>
          </a:p>
        </p:txBody>
      </p:sp>
      <p:sp>
        <p:nvSpPr>
          <p:cNvPr id="9" name="Text 7"/>
          <p:cNvSpPr/>
          <p:nvPr/>
        </p:nvSpPr>
        <p:spPr>
          <a:xfrm>
            <a:off x="1463040" y="914400"/>
            <a:ext cx="2286000" cy="292608"/>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フォルダを作る</a:t>
            </a:r>
            <a:endParaRPr lang="en-US" sz="1300" dirty="0"/>
          </a:p>
        </p:txBody>
      </p:sp>
      <p:sp>
        <p:nvSpPr>
          <p:cNvPr id="10" name="Shape 8"/>
          <p:cNvSpPr/>
          <p:nvPr/>
        </p:nvSpPr>
        <p:spPr>
          <a:xfrm>
            <a:off x="457200" y="1243584"/>
            <a:ext cx="4572000" cy="548640"/>
          </a:xfrm>
          <a:prstGeom prst="rect">
            <a:avLst/>
          </a:prstGeom>
          <a:solidFill>
            <a:srgbClr val="EBF2FC"/>
          </a:solidFill>
          <a:ln/>
        </p:spPr>
      </p:sp>
      <p:sp>
        <p:nvSpPr>
          <p:cNvPr id="11" name="Text 9"/>
          <p:cNvSpPr/>
          <p:nvPr/>
        </p:nvSpPr>
        <p:spPr>
          <a:xfrm>
            <a:off x="594360" y="1243584"/>
            <a:ext cx="4297680" cy="548640"/>
          </a:xfrm>
          <a:prstGeom prst="rect">
            <a:avLst/>
          </a:prstGeom>
          <a:noFill/>
          <a:ln/>
        </p:spPr>
        <p:txBody>
          <a:bodyPr wrap="square" lIns="0" tIns="0" rIns="0" bIns="0" rtlCol="0" anchor="ctr"/>
          <a:lstStyle/>
          <a:p>
            <a:pPr indent="0" marL="0">
              <a:buNone/>
            </a:pPr>
            <a:r>
              <a:rPr lang="en-US" sz="900" dirty="0">
                <a:solidFill>
                  <a:srgbClr val="1E293B"/>
                </a:solidFill>
                <a:latin typeface="Consolas" pitchFamily="34" charset="0"/>
                <a:ea typeface="Consolas" pitchFamily="34" charset="-122"/>
                <a:cs typeface="Consolas" pitchFamily="34" charset="-120"/>
              </a:rPr>
              <a:t>mkdir -p .cursor/skills/code-review-lite</a:t>
            </a:r>
            <a:endParaRPr lang="en-US" sz="900" dirty="0"/>
          </a:p>
        </p:txBody>
      </p:sp>
      <p:sp>
        <p:nvSpPr>
          <p:cNvPr id="12" name="Text 10"/>
          <p:cNvSpPr/>
          <p:nvPr/>
        </p:nvSpPr>
        <p:spPr>
          <a:xfrm>
            <a:off x="5212080" y="1005840"/>
            <a:ext cx="3474720" cy="7315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プロジェクトルートで実行。フォルダ名がそのまま Skill 名になる。</a:t>
            </a:r>
            <a:endParaRPr lang="en-US" sz="1000" dirty="0"/>
          </a:p>
        </p:txBody>
      </p:sp>
      <p:sp>
        <p:nvSpPr>
          <p:cNvPr id="13" name="Shape 11"/>
          <p:cNvSpPr/>
          <p:nvPr/>
        </p:nvSpPr>
        <p:spPr>
          <a:xfrm>
            <a:off x="457200" y="1847088"/>
            <a:ext cx="8229600" cy="9144"/>
          </a:xfrm>
          <a:prstGeom prst="rect">
            <a:avLst/>
          </a:prstGeom>
          <a:solidFill>
            <a:srgbClr val="E2E8F0"/>
          </a:solidFill>
          <a:ln/>
        </p:spPr>
      </p:sp>
      <p:sp>
        <p:nvSpPr>
          <p:cNvPr id="14" name="Shape 12"/>
          <p:cNvSpPr/>
          <p:nvPr/>
        </p:nvSpPr>
        <p:spPr>
          <a:xfrm>
            <a:off x="457200" y="1901952"/>
            <a:ext cx="914400" cy="292608"/>
          </a:xfrm>
          <a:prstGeom prst="rect">
            <a:avLst/>
          </a:prstGeom>
          <a:solidFill>
            <a:srgbClr val="1A2744"/>
          </a:solidFill>
          <a:ln/>
        </p:spPr>
      </p:sp>
      <p:sp>
        <p:nvSpPr>
          <p:cNvPr id="15" name="Text 13"/>
          <p:cNvSpPr/>
          <p:nvPr/>
        </p:nvSpPr>
        <p:spPr>
          <a:xfrm>
            <a:off x="457200" y="1901952"/>
            <a:ext cx="9144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2</a:t>
            </a:r>
            <a:endParaRPr lang="en-US" sz="1100" dirty="0"/>
          </a:p>
        </p:txBody>
      </p:sp>
      <p:sp>
        <p:nvSpPr>
          <p:cNvPr id="16" name="Text 14"/>
          <p:cNvSpPr/>
          <p:nvPr/>
        </p:nvSpPr>
        <p:spPr>
          <a:xfrm>
            <a:off x="1463040" y="1901952"/>
            <a:ext cx="2286000" cy="292608"/>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SKILL.md を作る</a:t>
            </a:r>
            <a:endParaRPr lang="en-US" sz="1300" dirty="0"/>
          </a:p>
        </p:txBody>
      </p:sp>
      <p:sp>
        <p:nvSpPr>
          <p:cNvPr id="17" name="Shape 15"/>
          <p:cNvSpPr/>
          <p:nvPr/>
        </p:nvSpPr>
        <p:spPr>
          <a:xfrm>
            <a:off x="457200" y="2231136"/>
            <a:ext cx="4572000" cy="548640"/>
          </a:xfrm>
          <a:prstGeom prst="rect">
            <a:avLst/>
          </a:prstGeom>
          <a:solidFill>
            <a:srgbClr val="EBF2FC"/>
          </a:solidFill>
          <a:ln/>
        </p:spPr>
      </p:sp>
      <p:sp>
        <p:nvSpPr>
          <p:cNvPr id="18" name="Text 16"/>
          <p:cNvSpPr/>
          <p:nvPr/>
        </p:nvSpPr>
        <p:spPr>
          <a:xfrm>
            <a:off x="594360" y="2231136"/>
            <a:ext cx="4297680" cy="548640"/>
          </a:xfrm>
          <a:prstGeom prst="rect">
            <a:avLst/>
          </a:prstGeom>
          <a:noFill/>
          <a:ln/>
        </p:spPr>
        <p:txBody>
          <a:bodyPr wrap="square" lIns="0" tIns="0" rIns="0" bIns="0" rtlCol="0" anchor="ctr"/>
          <a:lstStyle/>
          <a:p>
            <a:pPr indent="0" marL="0">
              <a:buNone/>
            </a:pPr>
            <a:r>
              <a:rPr lang="en-US" sz="900" dirty="0">
                <a:solidFill>
                  <a:srgbClr val="1E293B"/>
                </a:solidFill>
                <a:latin typeface="Consolas" pitchFamily="34" charset="0"/>
                <a:ea typeface="Consolas" pitchFamily="34" charset="-122"/>
                <a:cs typeface="Consolas" pitchFamily="34" charset="-120"/>
              </a:rPr>
              <a:t>.cursor/skills/code-review-lite/SKILL.md</a:t>
            </a:r>
            <a:endParaRPr lang="en-US" sz="900" dirty="0"/>
          </a:p>
        </p:txBody>
      </p:sp>
      <p:sp>
        <p:nvSpPr>
          <p:cNvPr id="19" name="Text 17"/>
          <p:cNvSpPr/>
          <p:nvPr/>
        </p:nvSpPr>
        <p:spPr>
          <a:xfrm>
            <a:off x="5212080" y="1993392"/>
            <a:ext cx="3474720" cy="7315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frontmatter に name と description、本文に利用条件と手順を記述。（次スライドで詳説）</a:t>
            </a:r>
            <a:endParaRPr lang="en-US" sz="1000" dirty="0"/>
          </a:p>
        </p:txBody>
      </p:sp>
      <p:sp>
        <p:nvSpPr>
          <p:cNvPr id="20" name="Shape 18"/>
          <p:cNvSpPr/>
          <p:nvPr/>
        </p:nvSpPr>
        <p:spPr>
          <a:xfrm>
            <a:off x="457200" y="2834640"/>
            <a:ext cx="8229600" cy="9144"/>
          </a:xfrm>
          <a:prstGeom prst="rect">
            <a:avLst/>
          </a:prstGeom>
          <a:solidFill>
            <a:srgbClr val="E2E8F0"/>
          </a:solidFill>
          <a:ln/>
        </p:spPr>
      </p:sp>
      <p:sp>
        <p:nvSpPr>
          <p:cNvPr id="21" name="Shape 19"/>
          <p:cNvSpPr/>
          <p:nvPr/>
        </p:nvSpPr>
        <p:spPr>
          <a:xfrm>
            <a:off x="457200" y="2889504"/>
            <a:ext cx="914400" cy="292608"/>
          </a:xfrm>
          <a:prstGeom prst="rect">
            <a:avLst/>
          </a:prstGeom>
          <a:solidFill>
            <a:srgbClr val="1A2744"/>
          </a:solidFill>
          <a:ln/>
        </p:spPr>
      </p:sp>
      <p:sp>
        <p:nvSpPr>
          <p:cNvPr id="22" name="Text 20"/>
          <p:cNvSpPr/>
          <p:nvPr/>
        </p:nvSpPr>
        <p:spPr>
          <a:xfrm>
            <a:off x="457200" y="2889504"/>
            <a:ext cx="9144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3</a:t>
            </a:r>
            <a:endParaRPr lang="en-US" sz="1100" dirty="0"/>
          </a:p>
        </p:txBody>
      </p:sp>
      <p:sp>
        <p:nvSpPr>
          <p:cNvPr id="23" name="Text 21"/>
          <p:cNvSpPr/>
          <p:nvPr/>
        </p:nvSpPr>
        <p:spPr>
          <a:xfrm>
            <a:off x="1463040" y="2889504"/>
            <a:ext cx="2286000" cy="292608"/>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認識を確認する</a:t>
            </a:r>
            <a:endParaRPr lang="en-US" sz="1300" dirty="0"/>
          </a:p>
        </p:txBody>
      </p:sp>
      <p:sp>
        <p:nvSpPr>
          <p:cNvPr id="24" name="Shape 22"/>
          <p:cNvSpPr/>
          <p:nvPr/>
        </p:nvSpPr>
        <p:spPr>
          <a:xfrm>
            <a:off x="457200" y="3218688"/>
            <a:ext cx="4572000" cy="548640"/>
          </a:xfrm>
          <a:prstGeom prst="rect">
            <a:avLst/>
          </a:prstGeom>
          <a:solidFill>
            <a:srgbClr val="EBF2FC"/>
          </a:solidFill>
          <a:ln/>
        </p:spPr>
      </p:sp>
      <p:sp>
        <p:nvSpPr>
          <p:cNvPr id="25" name="Text 23"/>
          <p:cNvSpPr/>
          <p:nvPr/>
        </p:nvSpPr>
        <p:spPr>
          <a:xfrm>
            <a:off x="594360" y="3218688"/>
            <a:ext cx="4297680" cy="548640"/>
          </a:xfrm>
          <a:prstGeom prst="rect">
            <a:avLst/>
          </a:prstGeom>
          <a:noFill/>
          <a:ln/>
        </p:spPr>
        <p:txBody>
          <a:bodyPr wrap="square" lIns="0" tIns="0" rIns="0" bIns="0" rtlCol="0" anchor="ctr"/>
          <a:lstStyle/>
          <a:p>
            <a:pPr indent="0" marL="0">
              <a:buNone/>
            </a:pPr>
            <a:r>
              <a:rPr lang="en-US" sz="900" dirty="0">
                <a:solidFill>
                  <a:srgbClr val="1E293B"/>
                </a:solidFill>
                <a:latin typeface="Consolas" pitchFamily="34" charset="0"/>
                <a:ea typeface="Consolas" pitchFamily="34" charset="-122"/>
                <a:cs typeface="Consolas" pitchFamily="34" charset="-120"/>
              </a:rPr>
              <a:t>Settings → Rules 画面で表示を確認</a:t>
            </a:r>
            <a:endParaRPr lang="en-US" sz="900" dirty="0"/>
          </a:p>
          <a:p>
            <a:pPr indent="0" marL="0">
              <a:buNone/>
            </a:pPr>
            <a:r>
              <a:rPr lang="en-US" sz="900" dirty="0">
                <a:solidFill>
                  <a:srgbClr val="1E293B"/>
                </a:solidFill>
                <a:latin typeface="Consolas" pitchFamily="34" charset="0"/>
                <a:ea typeface="Consolas" pitchFamily="34" charset="-122"/>
                <a:cs typeface="Consolas" pitchFamily="34" charset="-120"/>
              </a:rPr>
              <a:t>(Mac: Cmd+Shift+J / Win: Ctrl+Shift+J)</a:t>
            </a:r>
            <a:endParaRPr lang="en-US" sz="900" dirty="0"/>
          </a:p>
        </p:txBody>
      </p:sp>
      <p:sp>
        <p:nvSpPr>
          <p:cNvPr id="26" name="Text 24"/>
          <p:cNvSpPr/>
          <p:nvPr/>
        </p:nvSpPr>
        <p:spPr>
          <a:xfrm>
            <a:off x="5212080" y="2980944"/>
            <a:ext cx="3474720" cy="7315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表示されない場合：ファイル名・フォルダ名一致・Nightly を確認。</a:t>
            </a:r>
            <a:endParaRPr lang="en-US" sz="1000" dirty="0"/>
          </a:p>
        </p:txBody>
      </p:sp>
      <p:sp>
        <p:nvSpPr>
          <p:cNvPr id="27" name="Shape 25"/>
          <p:cNvSpPr/>
          <p:nvPr/>
        </p:nvSpPr>
        <p:spPr>
          <a:xfrm>
            <a:off x="457200" y="3822192"/>
            <a:ext cx="8229600" cy="9144"/>
          </a:xfrm>
          <a:prstGeom prst="rect">
            <a:avLst/>
          </a:prstGeom>
          <a:solidFill>
            <a:srgbClr val="E2E8F0"/>
          </a:solidFill>
          <a:ln/>
        </p:spPr>
      </p:sp>
      <p:sp>
        <p:nvSpPr>
          <p:cNvPr id="28" name="Shape 26"/>
          <p:cNvSpPr/>
          <p:nvPr/>
        </p:nvSpPr>
        <p:spPr>
          <a:xfrm>
            <a:off x="457200" y="3877056"/>
            <a:ext cx="914400" cy="292608"/>
          </a:xfrm>
          <a:prstGeom prst="rect">
            <a:avLst/>
          </a:prstGeom>
          <a:solidFill>
            <a:srgbClr val="1A2744"/>
          </a:solidFill>
          <a:ln/>
        </p:spPr>
      </p:sp>
      <p:sp>
        <p:nvSpPr>
          <p:cNvPr id="29" name="Text 27"/>
          <p:cNvSpPr/>
          <p:nvPr/>
        </p:nvSpPr>
        <p:spPr>
          <a:xfrm>
            <a:off x="457200" y="3877056"/>
            <a:ext cx="9144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4</a:t>
            </a:r>
            <a:endParaRPr lang="en-US" sz="1100" dirty="0"/>
          </a:p>
        </p:txBody>
      </p:sp>
      <p:sp>
        <p:nvSpPr>
          <p:cNvPr id="30" name="Text 28"/>
          <p:cNvSpPr/>
          <p:nvPr/>
        </p:nvSpPr>
        <p:spPr>
          <a:xfrm>
            <a:off x="1463040" y="3877056"/>
            <a:ext cx="2286000" cy="292608"/>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Agent chat で呼ぶ</a:t>
            </a:r>
            <a:endParaRPr lang="en-US" sz="1300" dirty="0"/>
          </a:p>
        </p:txBody>
      </p:sp>
      <p:sp>
        <p:nvSpPr>
          <p:cNvPr id="31" name="Shape 29"/>
          <p:cNvSpPr/>
          <p:nvPr/>
        </p:nvSpPr>
        <p:spPr>
          <a:xfrm>
            <a:off x="457200" y="4206240"/>
            <a:ext cx="4572000" cy="548640"/>
          </a:xfrm>
          <a:prstGeom prst="rect">
            <a:avLst/>
          </a:prstGeom>
          <a:solidFill>
            <a:srgbClr val="EBF2FC"/>
          </a:solidFill>
          <a:ln/>
        </p:spPr>
      </p:sp>
      <p:sp>
        <p:nvSpPr>
          <p:cNvPr id="32" name="Text 30"/>
          <p:cNvSpPr/>
          <p:nvPr/>
        </p:nvSpPr>
        <p:spPr>
          <a:xfrm>
            <a:off x="594360" y="4206240"/>
            <a:ext cx="4297680" cy="548640"/>
          </a:xfrm>
          <a:prstGeom prst="rect">
            <a:avLst/>
          </a:prstGeom>
          <a:noFill/>
          <a:ln/>
        </p:spPr>
        <p:txBody>
          <a:bodyPr wrap="square" lIns="0" tIns="0" rIns="0" bIns="0" rtlCol="0" anchor="ctr"/>
          <a:lstStyle/>
          <a:p>
            <a:pPr indent="0" marL="0">
              <a:buNone/>
            </a:pPr>
            <a:r>
              <a:rPr lang="en-US" sz="900" dirty="0">
                <a:solidFill>
                  <a:srgbClr val="1E293B"/>
                </a:solidFill>
                <a:latin typeface="Consolas" pitchFamily="34" charset="0"/>
                <a:ea typeface="Consolas" pitchFamily="34" charset="-122"/>
                <a:cs typeface="Consolas" pitchFamily="34" charset="-120"/>
              </a:rPr>
              <a:t>自然文：「この差分レビューして」</a:t>
            </a:r>
            <a:endParaRPr lang="en-US" sz="900" dirty="0"/>
          </a:p>
          <a:p>
            <a:pPr indent="0" marL="0">
              <a:buNone/>
            </a:pPr>
            <a:r>
              <a:rPr lang="en-US" sz="900" dirty="0">
                <a:solidFill>
                  <a:srgbClr val="1E293B"/>
                </a:solidFill>
                <a:latin typeface="Consolas" pitchFamily="34" charset="0"/>
                <a:ea typeface="Consolas" pitchFamily="34" charset="-122"/>
                <a:cs typeface="Consolas" pitchFamily="34" charset="-120"/>
              </a:rPr>
              <a:t>手動：/code-review-lite</a:t>
            </a:r>
            <a:endParaRPr lang="en-US" sz="900" dirty="0"/>
          </a:p>
        </p:txBody>
      </p:sp>
      <p:sp>
        <p:nvSpPr>
          <p:cNvPr id="33" name="Text 31"/>
          <p:cNvSpPr/>
          <p:nvPr/>
        </p:nvSpPr>
        <p:spPr>
          <a:xfrm>
            <a:off x="5212080" y="3968496"/>
            <a:ext cx="3474720" cy="7315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自動適用 = description と会話内容の関連性で判定。手動 = /skill名 で直接起動。</a:t>
            </a:r>
            <a:endParaRPr lang="en-US" sz="1000" dirty="0"/>
          </a:p>
        </p:txBody>
      </p:sp>
      <p:sp>
        <p:nvSpPr>
          <p:cNvPr id="34" name="Shape 32"/>
          <p:cNvSpPr/>
          <p:nvPr/>
        </p:nvSpPr>
        <p:spPr>
          <a:xfrm>
            <a:off x="457200" y="4663440"/>
            <a:ext cx="8229600" cy="320040"/>
          </a:xfrm>
          <a:prstGeom prst="rect">
            <a:avLst/>
          </a:prstGeom>
          <a:solidFill>
            <a:srgbClr val="DCFCE7"/>
          </a:solidFill>
          <a:ln/>
        </p:spPr>
      </p:sp>
      <p:sp>
        <p:nvSpPr>
          <p:cNvPr id="35" name="Text 33"/>
          <p:cNvSpPr/>
          <p:nvPr/>
        </p:nvSpPr>
        <p:spPr>
          <a:xfrm>
            <a:off x="640080" y="4663440"/>
            <a:ext cx="7863840" cy="320040"/>
          </a:xfrm>
          <a:prstGeom prst="rect">
            <a:avLst/>
          </a:prstGeom>
          <a:noFill/>
          <a:ln/>
        </p:spPr>
        <p:txBody>
          <a:bodyPr wrap="square" lIns="0" tIns="0" rIns="0" bIns="0"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 この4ステップで最小構成の Skill が動作します。まずは SKILL.md 1ファイルから始めましょう。</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04</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SKILL.md の書き方</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Shape 5"/>
          <p:cNvSpPr/>
          <p:nvPr/>
        </p:nvSpPr>
        <p:spPr>
          <a:xfrm>
            <a:off x="457200" y="868680"/>
            <a:ext cx="4754880" cy="4023360"/>
          </a:xfrm>
          <a:prstGeom prst="rect">
            <a:avLst/>
          </a:prstGeom>
          <a:solidFill>
            <a:srgbClr val="111B33"/>
          </a:solidFill>
          <a:ln/>
        </p:spPr>
      </p:sp>
      <p:sp>
        <p:nvSpPr>
          <p:cNvPr id="8" name="Text 6"/>
          <p:cNvSpPr/>
          <p:nvPr/>
        </p:nvSpPr>
        <p:spPr>
          <a:xfrm>
            <a:off x="594360" y="914400"/>
            <a:ext cx="4572000" cy="274320"/>
          </a:xfrm>
          <a:prstGeom prst="rect">
            <a:avLst/>
          </a:prstGeom>
          <a:noFill/>
          <a:ln/>
        </p:spPr>
        <p:txBody>
          <a:bodyPr wrap="square" lIns="0" tIns="0" rIns="0" bIns="0" rtlCol="0" anchor="ctr"/>
          <a:lstStyle/>
          <a:p>
            <a:pPr indent="0" marL="0">
              <a:buNone/>
            </a:pPr>
            <a:r>
              <a:rPr lang="en-US" sz="1100" b="1" dirty="0">
                <a:solidFill>
                  <a:srgbClr val="E8913A"/>
                </a:solidFill>
                <a:latin typeface="Calibri" pitchFamily="34" charset="0"/>
                <a:ea typeface="Calibri" pitchFamily="34" charset="-122"/>
                <a:cs typeface="Calibri" pitchFamily="34" charset="-120"/>
              </a:rPr>
              <a:t>SKILL.md サンプル（日本語版）</a:t>
            </a:r>
            <a:endParaRPr lang="en-US" sz="1100" dirty="0"/>
          </a:p>
        </p:txBody>
      </p:sp>
      <p:sp>
        <p:nvSpPr>
          <p:cNvPr id="9" name="Text 7"/>
          <p:cNvSpPr/>
          <p:nvPr/>
        </p:nvSpPr>
        <p:spPr>
          <a:xfrm>
            <a:off x="685800" y="1234440"/>
            <a:ext cx="4389120" cy="155448"/>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a:t>
            </a:r>
            <a:endParaRPr lang="en-US" sz="800" dirty="0"/>
          </a:p>
        </p:txBody>
      </p:sp>
      <p:sp>
        <p:nvSpPr>
          <p:cNvPr id="10" name="Text 8"/>
          <p:cNvSpPr/>
          <p:nvPr/>
        </p:nvSpPr>
        <p:spPr>
          <a:xfrm>
            <a:off x="685800" y="1389888"/>
            <a:ext cx="4389120" cy="155448"/>
          </a:xfrm>
          <a:prstGeom prst="rect">
            <a:avLst/>
          </a:prstGeom>
          <a:noFill/>
          <a:ln/>
        </p:spPr>
        <p:txBody>
          <a:bodyPr wrap="square" lIns="0" tIns="0" rIns="0" bIns="0" rtlCol="0" anchor="ctr"/>
          <a:lstStyle/>
          <a:p>
            <a:pPr indent="0" marL="0">
              <a:buNone/>
            </a:pPr>
            <a:r>
              <a:rPr lang="en-US" sz="800" dirty="0">
                <a:solidFill>
                  <a:srgbClr val="D6E6F9"/>
                </a:solidFill>
                <a:latin typeface="Consolas" pitchFamily="34" charset="0"/>
                <a:ea typeface="Consolas" pitchFamily="34" charset="-122"/>
                <a:cs typeface="Consolas" pitchFamily="34" charset="-120"/>
              </a:rPr>
              <a:t>name: code-review-lite</a:t>
            </a:r>
            <a:endParaRPr lang="en-US" sz="800" dirty="0"/>
          </a:p>
        </p:txBody>
      </p:sp>
      <p:sp>
        <p:nvSpPr>
          <p:cNvPr id="11" name="Text 9"/>
          <p:cNvSpPr/>
          <p:nvPr/>
        </p:nvSpPr>
        <p:spPr>
          <a:xfrm>
            <a:off x="685800" y="1545336"/>
            <a:ext cx="4389120" cy="155448"/>
          </a:xfrm>
          <a:prstGeom prst="rect">
            <a:avLst/>
          </a:prstGeom>
          <a:noFill/>
          <a:ln/>
        </p:spPr>
        <p:txBody>
          <a:bodyPr wrap="square" lIns="0" tIns="0" rIns="0" bIns="0" rtlCol="0" anchor="ctr"/>
          <a:lstStyle/>
          <a:p>
            <a:pPr indent="0" marL="0">
              <a:buNone/>
            </a:pPr>
            <a:r>
              <a:rPr lang="en-US" sz="800" dirty="0">
                <a:solidFill>
                  <a:srgbClr val="D6E6F9"/>
                </a:solidFill>
                <a:latin typeface="Consolas" pitchFamily="34" charset="0"/>
                <a:ea typeface="Consolas" pitchFamily="34" charset="-122"/>
                <a:cs typeface="Consolas" pitchFamily="34" charset="-120"/>
              </a:rPr>
              <a:t>description: コードレビュー、PRレビュー、</a:t>
            </a:r>
            <a:endParaRPr lang="en-US" sz="800" dirty="0"/>
          </a:p>
        </p:txBody>
      </p:sp>
      <p:sp>
        <p:nvSpPr>
          <p:cNvPr id="12" name="Text 10"/>
          <p:cNvSpPr/>
          <p:nvPr/>
        </p:nvSpPr>
        <p:spPr>
          <a:xfrm>
            <a:off x="685800" y="1700784"/>
            <a:ext cx="4389120" cy="155448"/>
          </a:xfrm>
          <a:prstGeom prst="rect">
            <a:avLst/>
          </a:prstGeom>
          <a:noFill/>
          <a:ln/>
        </p:spPr>
        <p:txBody>
          <a:bodyPr wrap="square" lIns="0" tIns="0" rIns="0" bIns="0" rtlCol="0" anchor="ctr"/>
          <a:lstStyle/>
          <a:p>
            <a:pPr indent="0" marL="0">
              <a:buNone/>
            </a:pPr>
            <a:r>
              <a:rPr lang="en-US" sz="800" dirty="0">
                <a:solidFill>
                  <a:srgbClr val="D6E6F9"/>
                </a:solidFill>
                <a:latin typeface="Consolas" pitchFamily="34" charset="0"/>
                <a:ea typeface="Consolas" pitchFamily="34" charset="-122"/>
                <a:cs typeface="Consolas" pitchFamily="34" charset="-120"/>
              </a:rPr>
              <a:t>  差分レビューを依頼されたときに使う。</a:t>
            </a:r>
            <a:endParaRPr lang="en-US" sz="800" dirty="0"/>
          </a:p>
        </p:txBody>
      </p:sp>
      <p:sp>
        <p:nvSpPr>
          <p:cNvPr id="13" name="Text 11"/>
          <p:cNvSpPr/>
          <p:nvPr/>
        </p:nvSpPr>
        <p:spPr>
          <a:xfrm>
            <a:off x="685800" y="1856232"/>
            <a:ext cx="4389120" cy="155448"/>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a:t>
            </a:r>
            <a:endParaRPr lang="en-US" sz="800" dirty="0"/>
          </a:p>
        </p:txBody>
      </p:sp>
      <p:sp>
        <p:nvSpPr>
          <p:cNvPr id="14" name="Text 12"/>
          <p:cNvSpPr/>
          <p:nvPr/>
        </p:nvSpPr>
        <p:spPr>
          <a:xfrm>
            <a:off x="685800" y="2103120"/>
            <a:ext cx="4389120" cy="155448"/>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Code Review Lite</a:t>
            </a:r>
            <a:endParaRPr lang="en-US" sz="800" dirty="0"/>
          </a:p>
        </p:txBody>
      </p:sp>
      <p:sp>
        <p:nvSpPr>
          <p:cNvPr id="15" name="Text 13"/>
          <p:cNvSpPr/>
          <p:nvPr/>
        </p:nvSpPr>
        <p:spPr>
          <a:xfrm>
            <a:off x="685800" y="2350008"/>
            <a:ext cx="4389120" cy="155448"/>
          </a:xfrm>
          <a:prstGeom prst="rect">
            <a:avLst/>
          </a:prstGeom>
          <a:noFill/>
          <a:ln/>
        </p:spPr>
        <p:txBody>
          <a:bodyPr wrap="square" lIns="0" tIns="0" rIns="0" bIns="0" rtlCol="0" anchor="ctr"/>
          <a:lstStyle/>
          <a:p>
            <a:pPr indent="0" marL="0">
              <a:buNone/>
            </a:pPr>
            <a:r>
              <a:rPr lang="en-US" sz="800" dirty="0">
                <a:solidFill>
                  <a:srgbClr val="E8913A"/>
                </a:solidFill>
                <a:latin typeface="Consolas" pitchFamily="34" charset="0"/>
                <a:ea typeface="Consolas" pitchFamily="34" charset="-122"/>
                <a:cs typeface="Consolas" pitchFamily="34" charset="-120"/>
              </a:rPr>
              <a:t>## 手順</a:t>
            </a:r>
            <a:endParaRPr lang="en-US" sz="800" dirty="0"/>
          </a:p>
        </p:txBody>
      </p:sp>
      <p:sp>
        <p:nvSpPr>
          <p:cNvPr id="16" name="Text 14"/>
          <p:cNvSpPr/>
          <p:nvPr/>
        </p:nvSpPr>
        <p:spPr>
          <a:xfrm>
            <a:off x="685800" y="2505456"/>
            <a:ext cx="4389120" cy="155448"/>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1. レビュー対象を特定する</a:t>
            </a:r>
            <a:endParaRPr lang="en-US" sz="800" dirty="0"/>
          </a:p>
        </p:txBody>
      </p:sp>
      <p:sp>
        <p:nvSpPr>
          <p:cNvPr id="17" name="Text 15"/>
          <p:cNvSpPr/>
          <p:nvPr/>
        </p:nvSpPr>
        <p:spPr>
          <a:xfrm>
            <a:off x="685800" y="2660904"/>
            <a:ext cx="4389120" cy="155448"/>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2. 差分が必要なら scripts/collect_diff.sh</a:t>
            </a:r>
            <a:endParaRPr lang="en-US" sz="800" dirty="0"/>
          </a:p>
        </p:txBody>
      </p:sp>
      <p:sp>
        <p:nvSpPr>
          <p:cNvPr id="18" name="Text 16"/>
          <p:cNvSpPr/>
          <p:nvPr/>
        </p:nvSpPr>
        <p:spPr>
          <a:xfrm>
            <a:off x="685800" y="2816352"/>
            <a:ext cx="4389120" cy="155448"/>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3. references/review-checklist.md を読む</a:t>
            </a:r>
            <a:endParaRPr lang="en-US" sz="800" dirty="0"/>
          </a:p>
        </p:txBody>
      </p:sp>
      <p:sp>
        <p:nvSpPr>
          <p:cNvPr id="19" name="Text 17"/>
          <p:cNvSpPr/>
          <p:nvPr/>
        </p:nvSpPr>
        <p:spPr>
          <a:xfrm>
            <a:off x="685800" y="2971800"/>
            <a:ext cx="4389120" cy="155448"/>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4. 次の観点でレビュー：</a:t>
            </a:r>
            <a:endParaRPr lang="en-US" sz="800" dirty="0"/>
          </a:p>
        </p:txBody>
      </p:sp>
      <p:sp>
        <p:nvSpPr>
          <p:cNvPr id="20" name="Text 18"/>
          <p:cNvSpPr/>
          <p:nvPr/>
        </p:nvSpPr>
        <p:spPr>
          <a:xfrm>
            <a:off x="685800" y="3127248"/>
            <a:ext cx="4389120" cy="155448"/>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ロジックの誤り</a:t>
            </a:r>
            <a:endParaRPr lang="en-US" sz="800" dirty="0"/>
          </a:p>
        </p:txBody>
      </p:sp>
      <p:sp>
        <p:nvSpPr>
          <p:cNvPr id="21" name="Text 19"/>
          <p:cNvSpPr/>
          <p:nvPr/>
        </p:nvSpPr>
        <p:spPr>
          <a:xfrm>
            <a:off x="685800" y="3282696"/>
            <a:ext cx="4389120" cy="155448"/>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境界値の漏れ</a:t>
            </a:r>
            <a:endParaRPr lang="en-US" sz="800" dirty="0"/>
          </a:p>
        </p:txBody>
      </p:sp>
      <p:sp>
        <p:nvSpPr>
          <p:cNvPr id="22" name="Text 20"/>
          <p:cNvSpPr/>
          <p:nvPr/>
        </p:nvSpPr>
        <p:spPr>
          <a:xfrm>
            <a:off x="685800" y="3438144"/>
            <a:ext cx="4389120" cy="155448"/>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命名のわかりにくさ</a:t>
            </a:r>
            <a:endParaRPr lang="en-US" sz="800" dirty="0"/>
          </a:p>
        </p:txBody>
      </p:sp>
      <p:sp>
        <p:nvSpPr>
          <p:cNvPr id="23" name="Text 21"/>
          <p:cNvSpPr/>
          <p:nvPr/>
        </p:nvSpPr>
        <p:spPr>
          <a:xfrm>
            <a:off x="685800" y="3593592"/>
            <a:ext cx="4389120" cy="155448"/>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テスト不足</a:t>
            </a:r>
            <a:endParaRPr lang="en-US" sz="800" dirty="0"/>
          </a:p>
        </p:txBody>
      </p:sp>
      <p:sp>
        <p:nvSpPr>
          <p:cNvPr id="24" name="Text 22"/>
          <p:cNvSpPr/>
          <p:nvPr/>
        </p:nvSpPr>
        <p:spPr>
          <a:xfrm>
            <a:off x="685800" y="3749040"/>
            <a:ext cx="4389120" cy="155448"/>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5. 重大→重要→あると良い の順で返す</a:t>
            </a:r>
            <a:endParaRPr lang="en-US" sz="800" dirty="0"/>
          </a:p>
        </p:txBody>
      </p:sp>
      <p:sp>
        <p:nvSpPr>
          <p:cNvPr id="25" name="Shape 23"/>
          <p:cNvSpPr/>
          <p:nvPr/>
        </p:nvSpPr>
        <p:spPr>
          <a:xfrm>
            <a:off x="5394960" y="868680"/>
            <a:ext cx="3383280" cy="868680"/>
          </a:xfrm>
          <a:prstGeom prst="rect">
            <a:avLst/>
          </a:prstGeom>
          <a:solidFill>
            <a:srgbClr val="F5F7FA"/>
          </a:solidFill>
          <a:ln w="6350">
            <a:solidFill>
              <a:srgbClr val="E2E8F0"/>
            </a:solidFill>
            <a:prstDash val="solid"/>
          </a:ln>
        </p:spPr>
      </p:sp>
      <p:sp>
        <p:nvSpPr>
          <p:cNvPr id="26" name="Text 24"/>
          <p:cNvSpPr/>
          <p:nvPr/>
        </p:nvSpPr>
        <p:spPr>
          <a:xfrm>
            <a:off x="5532120" y="914400"/>
            <a:ext cx="3108960" cy="22860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① frontmatter（必須）</a:t>
            </a:r>
            <a:endParaRPr lang="en-US" sz="1100" dirty="0"/>
          </a:p>
        </p:txBody>
      </p:sp>
      <p:sp>
        <p:nvSpPr>
          <p:cNvPr id="27" name="Text 25"/>
          <p:cNvSpPr/>
          <p:nvPr/>
        </p:nvSpPr>
        <p:spPr>
          <a:xfrm>
            <a:off x="5532120" y="1143000"/>
            <a:ext cx="3108960" cy="5486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 で囲む。name はフォルダ名と完全一致。description は「いつ使うか」を明記する。Agent の自動発火はここを見て判定する。</a:t>
            </a:r>
            <a:endParaRPr lang="en-US" sz="900" dirty="0"/>
          </a:p>
        </p:txBody>
      </p:sp>
      <p:sp>
        <p:nvSpPr>
          <p:cNvPr id="28" name="Shape 26"/>
          <p:cNvSpPr/>
          <p:nvPr/>
        </p:nvSpPr>
        <p:spPr>
          <a:xfrm>
            <a:off x="5394960" y="1874520"/>
            <a:ext cx="3383280" cy="868680"/>
          </a:xfrm>
          <a:prstGeom prst="rect">
            <a:avLst/>
          </a:prstGeom>
          <a:solidFill>
            <a:srgbClr val="F5F7FA"/>
          </a:solidFill>
          <a:ln w="6350">
            <a:solidFill>
              <a:srgbClr val="E2E8F0"/>
            </a:solidFill>
            <a:prstDash val="solid"/>
          </a:ln>
        </p:spPr>
      </p:sp>
      <p:sp>
        <p:nvSpPr>
          <p:cNvPr id="29" name="Text 27"/>
          <p:cNvSpPr/>
          <p:nvPr/>
        </p:nvSpPr>
        <p:spPr>
          <a:xfrm>
            <a:off x="5532120" y="1920240"/>
            <a:ext cx="3108960" cy="22860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② 利用条件</a:t>
            </a:r>
            <a:endParaRPr lang="en-US" sz="1100" dirty="0"/>
          </a:p>
        </p:txBody>
      </p:sp>
      <p:sp>
        <p:nvSpPr>
          <p:cNvPr id="30" name="Text 28"/>
          <p:cNvSpPr/>
          <p:nvPr/>
        </p:nvSpPr>
        <p:spPr>
          <a:xfrm>
            <a:off x="5532120" y="2148840"/>
            <a:ext cx="3108960" cy="5486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「どんな依頼の時にこのSkillを使うか」を本文冒頭に書く。Agent が読み込み判定する際の補助情報になる。</a:t>
            </a:r>
            <a:endParaRPr lang="en-US" sz="900" dirty="0"/>
          </a:p>
        </p:txBody>
      </p:sp>
      <p:sp>
        <p:nvSpPr>
          <p:cNvPr id="31" name="Shape 29"/>
          <p:cNvSpPr/>
          <p:nvPr/>
        </p:nvSpPr>
        <p:spPr>
          <a:xfrm>
            <a:off x="5394960" y="2880360"/>
            <a:ext cx="3383280" cy="868680"/>
          </a:xfrm>
          <a:prstGeom prst="rect">
            <a:avLst/>
          </a:prstGeom>
          <a:solidFill>
            <a:srgbClr val="F5F7FA"/>
          </a:solidFill>
          <a:ln w="6350">
            <a:solidFill>
              <a:srgbClr val="E2E8F0"/>
            </a:solidFill>
            <a:prstDash val="solid"/>
          </a:ln>
        </p:spPr>
      </p:sp>
      <p:sp>
        <p:nvSpPr>
          <p:cNvPr id="32" name="Text 30"/>
          <p:cNvSpPr/>
          <p:nvPr/>
        </p:nvSpPr>
        <p:spPr>
          <a:xfrm>
            <a:off x="5532120" y="2926080"/>
            <a:ext cx="3108960" cy="22860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③ 手順（Instructions）</a:t>
            </a:r>
            <a:endParaRPr lang="en-US" sz="1100" dirty="0"/>
          </a:p>
        </p:txBody>
      </p:sp>
      <p:sp>
        <p:nvSpPr>
          <p:cNvPr id="33" name="Text 31"/>
          <p:cNvSpPr/>
          <p:nvPr/>
        </p:nvSpPr>
        <p:spPr>
          <a:xfrm>
            <a:off x="5532120" y="3154680"/>
            <a:ext cx="3108960" cy="5486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5〜10ステップ程度が目安。references/ や scripts/ がある場合は「いつ読むか」「いつ実行するか」を明記。</a:t>
            </a:r>
            <a:endParaRPr lang="en-US" sz="900" dirty="0"/>
          </a:p>
        </p:txBody>
      </p:sp>
      <p:sp>
        <p:nvSpPr>
          <p:cNvPr id="34" name="Shape 32"/>
          <p:cNvSpPr/>
          <p:nvPr/>
        </p:nvSpPr>
        <p:spPr>
          <a:xfrm>
            <a:off x="5394960" y="3886200"/>
            <a:ext cx="3383280" cy="868680"/>
          </a:xfrm>
          <a:prstGeom prst="rect">
            <a:avLst/>
          </a:prstGeom>
          <a:solidFill>
            <a:srgbClr val="F5F7FA"/>
          </a:solidFill>
          <a:ln w="6350">
            <a:solidFill>
              <a:srgbClr val="E2E8F0"/>
            </a:solidFill>
            <a:prstDash val="solid"/>
          </a:ln>
        </p:spPr>
      </p:sp>
      <p:sp>
        <p:nvSpPr>
          <p:cNvPr id="35" name="Text 33"/>
          <p:cNvSpPr/>
          <p:nvPr/>
        </p:nvSpPr>
        <p:spPr>
          <a:xfrm>
            <a:off x="5532120" y="3931920"/>
            <a:ext cx="3108960" cy="22860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④ 出力形式</a:t>
            </a:r>
            <a:endParaRPr lang="en-US" sz="1100" dirty="0"/>
          </a:p>
        </p:txBody>
      </p:sp>
      <p:sp>
        <p:nvSpPr>
          <p:cNvPr id="36" name="Text 34"/>
          <p:cNvSpPr/>
          <p:nvPr/>
        </p:nvSpPr>
        <p:spPr>
          <a:xfrm>
            <a:off x="5532120" y="4160520"/>
            <a:ext cx="3108960" cy="5486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期待する出力の形式（重大→重要→任意 の順など）を定義すると、結果が安定する。</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05</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動作確認の方法（3段階）</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Shape 5"/>
          <p:cNvSpPr/>
          <p:nvPr/>
        </p:nvSpPr>
        <p:spPr>
          <a:xfrm>
            <a:off x="457200" y="914400"/>
            <a:ext cx="822960" cy="274320"/>
          </a:xfrm>
          <a:prstGeom prst="rect">
            <a:avLst/>
          </a:prstGeom>
          <a:solidFill>
            <a:srgbClr val="3B7DD8"/>
          </a:solidFill>
          <a:ln/>
        </p:spPr>
      </p:sp>
      <p:sp>
        <p:nvSpPr>
          <p:cNvPr id="8" name="Text 6"/>
          <p:cNvSpPr/>
          <p:nvPr/>
        </p:nvSpPr>
        <p:spPr>
          <a:xfrm>
            <a:off x="457200" y="914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確認 1</a:t>
            </a:r>
            <a:endParaRPr lang="en-US" sz="1000" dirty="0"/>
          </a:p>
        </p:txBody>
      </p:sp>
      <p:sp>
        <p:nvSpPr>
          <p:cNvPr id="9" name="Text 7"/>
          <p:cNvSpPr/>
          <p:nvPr/>
        </p:nvSpPr>
        <p:spPr>
          <a:xfrm>
            <a:off x="1371600" y="914400"/>
            <a:ext cx="3657600" cy="274320"/>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自然文で自動発火を確認</a:t>
            </a:r>
            <a:endParaRPr lang="en-US" sz="1200" dirty="0"/>
          </a:p>
        </p:txBody>
      </p:sp>
      <p:sp>
        <p:nvSpPr>
          <p:cNvPr id="10" name="Shape 8"/>
          <p:cNvSpPr/>
          <p:nvPr/>
        </p:nvSpPr>
        <p:spPr>
          <a:xfrm>
            <a:off x="457200" y="1234440"/>
            <a:ext cx="3474720" cy="868680"/>
          </a:xfrm>
          <a:prstGeom prst="rect">
            <a:avLst/>
          </a:prstGeom>
          <a:solidFill>
            <a:srgbClr val="111B33"/>
          </a:solidFill>
          <a:ln/>
        </p:spPr>
      </p:sp>
      <p:sp>
        <p:nvSpPr>
          <p:cNvPr id="11" name="Text 9"/>
          <p:cNvSpPr/>
          <p:nvPr/>
        </p:nvSpPr>
        <p:spPr>
          <a:xfrm>
            <a:off x="594360" y="1261872"/>
            <a:ext cx="3200400" cy="82296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このブランチの変更を軽くレビューして。</a:t>
            </a:r>
            <a:endParaRPr lang="en-US" sz="900" dirty="0"/>
          </a:p>
          <a:p>
            <a:pPr indent="0" marL="0">
              <a:buNone/>
            </a:pPr>
            <a:r>
              <a:rPr lang="en-US" sz="900" dirty="0">
                <a:solidFill>
                  <a:srgbClr val="D6E6F9"/>
                </a:solidFill>
                <a:latin typeface="Consolas" pitchFamily="34" charset="0"/>
                <a:ea typeface="Consolas" pitchFamily="34" charset="-122"/>
                <a:cs typeface="Consolas" pitchFamily="34" charset="-120"/>
              </a:rPr>
              <a:t>見やすさ、バグ、テスト漏れを見て。</a:t>
            </a:r>
            <a:endParaRPr lang="en-US" sz="900" dirty="0"/>
          </a:p>
        </p:txBody>
      </p:sp>
      <p:sp>
        <p:nvSpPr>
          <p:cNvPr id="12" name="Text 10"/>
          <p:cNvSpPr/>
          <p:nvPr/>
        </p:nvSpPr>
        <p:spPr>
          <a:xfrm>
            <a:off x="4114800" y="1234440"/>
            <a:ext cx="3200400" cy="8686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Agent chat で自然文を入力。description と会話内容の関連性が高ければ、Skill が自動的に読み込まれる。発火したかどうかは Agent の応答内容で判断する。</a:t>
            </a:r>
            <a:endParaRPr lang="en-US" sz="900" dirty="0"/>
          </a:p>
        </p:txBody>
      </p:sp>
      <p:sp>
        <p:nvSpPr>
          <p:cNvPr id="13" name="Shape 11"/>
          <p:cNvSpPr/>
          <p:nvPr/>
        </p:nvSpPr>
        <p:spPr>
          <a:xfrm>
            <a:off x="7406640" y="1417320"/>
            <a:ext cx="1371600" cy="502920"/>
          </a:xfrm>
          <a:prstGeom prst="rect">
            <a:avLst/>
          </a:prstGeom>
          <a:solidFill>
            <a:srgbClr val="DCFCE7"/>
          </a:solidFill>
          <a:ln/>
        </p:spPr>
      </p:sp>
      <p:sp>
        <p:nvSpPr>
          <p:cNvPr id="14" name="Text 12"/>
          <p:cNvSpPr/>
          <p:nvPr/>
        </p:nvSpPr>
        <p:spPr>
          <a:xfrm>
            <a:off x="7452360" y="1417320"/>
            <a:ext cx="1280160" cy="502920"/>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Skill の観点に沿ったレビューが返ってくれば成功</a:t>
            </a:r>
            <a:endParaRPr lang="en-US" sz="800" dirty="0"/>
          </a:p>
        </p:txBody>
      </p:sp>
      <p:sp>
        <p:nvSpPr>
          <p:cNvPr id="15" name="Shape 13"/>
          <p:cNvSpPr/>
          <p:nvPr/>
        </p:nvSpPr>
        <p:spPr>
          <a:xfrm>
            <a:off x="457200" y="2194560"/>
            <a:ext cx="8229600" cy="9144"/>
          </a:xfrm>
          <a:prstGeom prst="rect">
            <a:avLst/>
          </a:prstGeom>
          <a:solidFill>
            <a:srgbClr val="E2E8F0"/>
          </a:solidFill>
          <a:ln/>
        </p:spPr>
      </p:sp>
      <p:sp>
        <p:nvSpPr>
          <p:cNvPr id="16" name="Shape 14"/>
          <p:cNvSpPr/>
          <p:nvPr/>
        </p:nvSpPr>
        <p:spPr>
          <a:xfrm>
            <a:off x="457200" y="2286000"/>
            <a:ext cx="822960" cy="274320"/>
          </a:xfrm>
          <a:prstGeom prst="rect">
            <a:avLst/>
          </a:prstGeom>
          <a:solidFill>
            <a:srgbClr val="E8913A"/>
          </a:solidFill>
          <a:ln/>
        </p:spPr>
      </p:sp>
      <p:sp>
        <p:nvSpPr>
          <p:cNvPr id="17" name="Text 15"/>
          <p:cNvSpPr/>
          <p:nvPr/>
        </p:nvSpPr>
        <p:spPr>
          <a:xfrm>
            <a:off x="457200" y="22860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確認 2</a:t>
            </a:r>
            <a:endParaRPr lang="en-US" sz="1000" dirty="0"/>
          </a:p>
        </p:txBody>
      </p:sp>
      <p:sp>
        <p:nvSpPr>
          <p:cNvPr id="18" name="Text 16"/>
          <p:cNvSpPr/>
          <p:nvPr/>
        </p:nvSpPr>
        <p:spPr>
          <a:xfrm>
            <a:off x="1371600" y="2286000"/>
            <a:ext cx="3657600" cy="274320"/>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手動起動（/ コマンド）で確認</a:t>
            </a:r>
            <a:endParaRPr lang="en-US" sz="1200" dirty="0"/>
          </a:p>
        </p:txBody>
      </p:sp>
      <p:sp>
        <p:nvSpPr>
          <p:cNvPr id="19" name="Shape 17"/>
          <p:cNvSpPr/>
          <p:nvPr/>
        </p:nvSpPr>
        <p:spPr>
          <a:xfrm>
            <a:off x="457200" y="2606040"/>
            <a:ext cx="3474720" cy="868680"/>
          </a:xfrm>
          <a:prstGeom prst="rect">
            <a:avLst/>
          </a:prstGeom>
          <a:solidFill>
            <a:srgbClr val="111B33"/>
          </a:solidFill>
          <a:ln/>
        </p:spPr>
      </p:sp>
      <p:sp>
        <p:nvSpPr>
          <p:cNvPr id="20" name="Text 18"/>
          <p:cNvSpPr/>
          <p:nvPr/>
        </p:nvSpPr>
        <p:spPr>
          <a:xfrm>
            <a:off x="594360" y="2633472"/>
            <a:ext cx="3200400" cy="82296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/code-review-lite</a:t>
            </a:r>
            <a:endParaRPr lang="en-US" sz="900" dirty="0"/>
          </a:p>
          <a:p>
            <a:pPr indent="0" marL="0">
              <a:buNone/>
            </a:pPr>
            <a:r>
              <a:rPr lang="en-US" sz="900" dirty="0">
                <a:solidFill>
                  <a:srgbClr val="D6E6F9"/>
                </a:solidFill>
                <a:latin typeface="Consolas" pitchFamily="34" charset="0"/>
                <a:ea typeface="Consolas" pitchFamily="34" charset="-122"/>
                <a:cs typeface="Consolas" pitchFamily="34" charset="-120"/>
              </a:rPr>
              <a:t>mainとの差分をレビューして、</a:t>
            </a:r>
            <a:endParaRPr lang="en-US" sz="900" dirty="0"/>
          </a:p>
          <a:p>
            <a:pPr indent="0" marL="0">
              <a:buNone/>
            </a:pPr>
            <a:r>
              <a:rPr lang="en-US" sz="900" dirty="0">
                <a:solidFill>
                  <a:srgbClr val="D6E6F9"/>
                </a:solidFill>
                <a:latin typeface="Consolas" pitchFamily="34" charset="0"/>
                <a:ea typeface="Consolas" pitchFamily="34" charset="-122"/>
                <a:cs typeface="Consolas" pitchFamily="34" charset="-120"/>
              </a:rPr>
              <a:t>重大な問題から順に教えて</a:t>
            </a:r>
            <a:endParaRPr lang="en-US" sz="900" dirty="0"/>
          </a:p>
        </p:txBody>
      </p:sp>
      <p:sp>
        <p:nvSpPr>
          <p:cNvPr id="21" name="Text 19"/>
          <p:cNvSpPr/>
          <p:nvPr/>
        </p:nvSpPr>
        <p:spPr>
          <a:xfrm>
            <a:off x="4114800" y="2606040"/>
            <a:ext cx="3200400" cy="8686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/skill-name で明示的に起動する方法。description ベースの自動判定を経由しないため、確実に発火する。disable-model-invocation: true をつけると手動専用になる。</a:t>
            </a:r>
            <a:endParaRPr lang="en-US" sz="900" dirty="0"/>
          </a:p>
        </p:txBody>
      </p:sp>
      <p:sp>
        <p:nvSpPr>
          <p:cNvPr id="22" name="Shape 20"/>
          <p:cNvSpPr/>
          <p:nvPr/>
        </p:nvSpPr>
        <p:spPr>
          <a:xfrm>
            <a:off x="7406640" y="2788920"/>
            <a:ext cx="1371600" cy="502920"/>
          </a:xfrm>
          <a:prstGeom prst="rect">
            <a:avLst/>
          </a:prstGeom>
          <a:solidFill>
            <a:srgbClr val="DCFCE7"/>
          </a:solidFill>
          <a:ln/>
        </p:spPr>
      </p:sp>
      <p:sp>
        <p:nvSpPr>
          <p:cNvPr id="23" name="Text 21"/>
          <p:cNvSpPr/>
          <p:nvPr/>
        </p:nvSpPr>
        <p:spPr>
          <a:xfrm>
            <a:off x="7452360" y="2788920"/>
            <a:ext cx="1280160" cy="502920"/>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指定した観点・形式でレビューが返れば成功</a:t>
            </a:r>
            <a:endParaRPr lang="en-US" sz="800" dirty="0"/>
          </a:p>
        </p:txBody>
      </p:sp>
      <p:sp>
        <p:nvSpPr>
          <p:cNvPr id="24" name="Shape 22"/>
          <p:cNvSpPr/>
          <p:nvPr/>
        </p:nvSpPr>
        <p:spPr>
          <a:xfrm>
            <a:off x="457200" y="3566160"/>
            <a:ext cx="8229600" cy="9144"/>
          </a:xfrm>
          <a:prstGeom prst="rect">
            <a:avLst/>
          </a:prstGeom>
          <a:solidFill>
            <a:srgbClr val="E2E8F0"/>
          </a:solidFill>
          <a:ln/>
        </p:spPr>
      </p:sp>
      <p:sp>
        <p:nvSpPr>
          <p:cNvPr id="25" name="Shape 23"/>
          <p:cNvSpPr/>
          <p:nvPr/>
        </p:nvSpPr>
        <p:spPr>
          <a:xfrm>
            <a:off x="457200" y="3657600"/>
            <a:ext cx="822960" cy="274320"/>
          </a:xfrm>
          <a:prstGeom prst="rect">
            <a:avLst/>
          </a:prstGeom>
          <a:solidFill>
            <a:srgbClr val="16A34A"/>
          </a:solidFill>
          <a:ln/>
        </p:spPr>
      </p:sp>
      <p:sp>
        <p:nvSpPr>
          <p:cNvPr id="26" name="Text 24"/>
          <p:cNvSpPr/>
          <p:nvPr/>
        </p:nvSpPr>
        <p:spPr>
          <a:xfrm>
            <a:off x="457200" y="36576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確認 3</a:t>
            </a:r>
            <a:endParaRPr lang="en-US" sz="1000" dirty="0"/>
          </a:p>
        </p:txBody>
      </p:sp>
      <p:sp>
        <p:nvSpPr>
          <p:cNvPr id="27" name="Text 25"/>
          <p:cNvSpPr/>
          <p:nvPr/>
        </p:nvSpPr>
        <p:spPr>
          <a:xfrm>
            <a:off x="1371600" y="3657600"/>
            <a:ext cx="3657600" cy="274320"/>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意図的バグテストで精度を確認</a:t>
            </a:r>
            <a:endParaRPr lang="en-US" sz="1200" dirty="0"/>
          </a:p>
        </p:txBody>
      </p:sp>
      <p:sp>
        <p:nvSpPr>
          <p:cNvPr id="28" name="Shape 26"/>
          <p:cNvSpPr/>
          <p:nvPr/>
        </p:nvSpPr>
        <p:spPr>
          <a:xfrm>
            <a:off x="457200" y="3977640"/>
            <a:ext cx="3474720" cy="868680"/>
          </a:xfrm>
          <a:prstGeom prst="rect">
            <a:avLst/>
          </a:prstGeom>
          <a:solidFill>
            <a:srgbClr val="111B33"/>
          </a:solidFill>
          <a:ln/>
        </p:spPr>
      </p:sp>
      <p:sp>
        <p:nvSpPr>
          <p:cNvPr id="29" name="Text 27"/>
          <p:cNvSpPr/>
          <p:nvPr/>
        </p:nvSpPr>
        <p:spPr>
          <a:xfrm>
            <a:off x="594360" y="4005072"/>
            <a:ext cx="3200400" cy="82296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テスト不足や off-by-one になりそうな</a:t>
            </a:r>
            <a:endParaRPr lang="en-US" sz="900" dirty="0"/>
          </a:p>
          <a:p>
            <a:pPr indent="0" marL="0">
              <a:buNone/>
            </a:pPr>
            <a:r>
              <a:rPr lang="en-US" sz="900" dirty="0">
                <a:solidFill>
                  <a:srgbClr val="D6E6F9"/>
                </a:solidFill>
                <a:latin typeface="Consolas" pitchFamily="34" charset="0"/>
                <a:ea typeface="Consolas" pitchFamily="34" charset="-122"/>
                <a:cs typeface="Consolas" pitchFamily="34" charset="-120"/>
              </a:rPr>
              <a:t>処理を1つ意図的に入れて、</a:t>
            </a:r>
            <a:endParaRPr lang="en-US" sz="900" dirty="0"/>
          </a:p>
          <a:p>
            <a:pPr indent="0" marL="0">
              <a:buNone/>
            </a:pPr>
            <a:r>
              <a:rPr lang="en-US" sz="900" dirty="0">
                <a:solidFill>
                  <a:srgbClr val="D6E6F9"/>
                </a:solidFill>
                <a:latin typeface="Consolas" pitchFamily="34" charset="0"/>
                <a:ea typeface="Consolas" pitchFamily="34" charset="-122"/>
                <a:cs typeface="Consolas" pitchFamily="34" charset="-120"/>
              </a:rPr>
              <a:t>指摘されるか確認する</a:t>
            </a:r>
            <a:endParaRPr lang="en-US" sz="900" dirty="0"/>
          </a:p>
        </p:txBody>
      </p:sp>
      <p:sp>
        <p:nvSpPr>
          <p:cNvPr id="30" name="Text 28"/>
          <p:cNvSpPr/>
          <p:nvPr/>
        </p:nvSpPr>
        <p:spPr>
          <a:xfrm>
            <a:off x="4114800" y="3977640"/>
            <a:ext cx="3200400" cy="8686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「1回うまく動いた」で終わらず、複数ケースで精度を評価する。Skill が弱いポイントを見つけたら description や手順を修正して改善する。</a:t>
            </a:r>
            <a:endParaRPr lang="en-US" sz="900" dirty="0"/>
          </a:p>
        </p:txBody>
      </p:sp>
      <p:sp>
        <p:nvSpPr>
          <p:cNvPr id="31" name="Shape 29"/>
          <p:cNvSpPr/>
          <p:nvPr/>
        </p:nvSpPr>
        <p:spPr>
          <a:xfrm>
            <a:off x="7406640" y="4160520"/>
            <a:ext cx="1371600" cy="502920"/>
          </a:xfrm>
          <a:prstGeom prst="rect">
            <a:avLst/>
          </a:prstGeom>
          <a:solidFill>
            <a:srgbClr val="DCFCE7"/>
          </a:solidFill>
          <a:ln/>
        </p:spPr>
      </p:sp>
      <p:sp>
        <p:nvSpPr>
          <p:cNvPr id="32" name="Text 30"/>
          <p:cNvSpPr/>
          <p:nvPr/>
        </p:nvSpPr>
        <p:spPr>
          <a:xfrm>
            <a:off x="7452360" y="4160520"/>
            <a:ext cx="1280160" cy="502920"/>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意図的なバグを正しく検出・指摘できれば合格</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06</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references/ と scripts/ で拡張する</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Text 5"/>
          <p:cNvSpPr/>
          <p:nvPr/>
        </p:nvSpPr>
        <p:spPr>
          <a:xfrm>
            <a:off x="822960" y="822960"/>
            <a:ext cx="77724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SKILL.md はスキルの「司令塔」。全部書き込むのではなく、詳細ルールは references/ に、定型処理は scripts/ に分離して保守性を高めます。</a:t>
            </a:r>
            <a:endParaRPr lang="en-US" sz="1100" dirty="0"/>
          </a:p>
        </p:txBody>
      </p:sp>
      <p:sp>
        <p:nvSpPr>
          <p:cNvPr id="8" name="Shape 6"/>
          <p:cNvSpPr/>
          <p:nvPr/>
        </p:nvSpPr>
        <p:spPr>
          <a:xfrm>
            <a:off x="457200" y="1325880"/>
            <a:ext cx="3931920" cy="3474720"/>
          </a:xfrm>
          <a:prstGeom prst="rect">
            <a:avLst/>
          </a:prstGeom>
          <a:solidFill>
            <a:srgbClr val="FFFFFF"/>
          </a:solidFill>
          <a:ln w="12700">
            <a:solidFill>
              <a:srgbClr val="D6E6F9"/>
            </a:solidFill>
            <a:prstDash val="solid"/>
          </a:ln>
          <a:effectLst>
            <a:outerShdw sx="100000" sy="100000" kx="0" ky="0" algn="bl" rotWithShape="0" blurRad="50800" dist="25400" dir="8100000">
              <a:srgbClr val="000000">
                <a:alpha val="8000"/>
              </a:srgbClr>
            </a:outerShdw>
          </a:effectLst>
        </p:spPr>
      </p:sp>
      <p:sp>
        <p:nvSpPr>
          <p:cNvPr id="9" name="Shape 7"/>
          <p:cNvSpPr/>
          <p:nvPr/>
        </p:nvSpPr>
        <p:spPr>
          <a:xfrm>
            <a:off x="457200" y="1325880"/>
            <a:ext cx="3931920" cy="411480"/>
          </a:xfrm>
          <a:prstGeom prst="rect">
            <a:avLst/>
          </a:prstGeom>
          <a:solidFill>
            <a:srgbClr val="EBF2FC"/>
          </a:solidFill>
          <a:ln/>
        </p:spPr>
      </p:sp>
      <p:sp>
        <p:nvSpPr>
          <p:cNvPr id="10" name="Text 8"/>
          <p:cNvSpPr/>
          <p:nvPr/>
        </p:nvSpPr>
        <p:spPr>
          <a:xfrm>
            <a:off x="594360" y="1325880"/>
            <a:ext cx="3657600" cy="411480"/>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references/  — 詳細ルール・チェックリスト</a:t>
            </a:r>
            <a:endParaRPr lang="en-US" sz="1200" dirty="0"/>
          </a:p>
        </p:txBody>
      </p:sp>
      <p:sp>
        <p:nvSpPr>
          <p:cNvPr id="11" name="Text 9"/>
          <p:cNvSpPr/>
          <p:nvPr/>
        </p:nvSpPr>
        <p:spPr>
          <a:xfrm>
            <a:off x="594360" y="1828800"/>
            <a:ext cx="3611880" cy="2834640"/>
          </a:xfrm>
          <a:prstGeom prst="rect">
            <a:avLst/>
          </a:prstGeom>
          <a:noFill/>
          <a:ln/>
        </p:spPr>
        <p:txBody>
          <a:bodyPr wrap="square" lIns="0" tIns="0" rIns="0" bIns="0" rtlCol="0" anchor="ctr"/>
          <a:lstStyle/>
          <a:p>
            <a:pPr indent="0" marL="0">
              <a:lnSpc>
                <a:spcPct val="105000"/>
              </a:lnSpc>
              <a:buNone/>
            </a:pPr>
            <a:r>
              <a:rPr lang="en-US" sz="1100" b="1" dirty="0">
                <a:solidFill>
                  <a:srgbClr val="1A2744"/>
                </a:solidFill>
              </a:rPr>
              <a:t>役割</a:t>
            </a:r>
            <a:endParaRPr lang="en-US" sz="1100" dirty="0"/>
          </a:p>
          <a:p>
            <a:pPr indent="0" marL="0">
              <a:lnSpc>
                <a:spcPct val="105000"/>
              </a:lnSpc>
              <a:buNone/>
            </a:pPr>
            <a:r>
              <a:rPr lang="en-US" sz="1000" dirty="0">
                <a:solidFill>
                  <a:srgbClr val="1E293B"/>
                </a:solidFill>
              </a:rPr>
              <a:t>SKILL.md に直書きすると長すぎる詳細ルール集を外出しする場所。</a:t>
            </a:r>
            <a:endParaRPr lang="en-US" sz="1100" dirty="0"/>
          </a:p>
          <a:p>
            <a:pPr indent="0" marL="0">
              <a:lnSpc>
                <a:spcPct val="105000"/>
              </a:lnSpc>
              <a:buNone/>
            </a:pPr>
            <a:endParaRPr lang="en-US" sz="1100" dirty="0"/>
          </a:p>
          <a:p>
            <a:pPr indent="0" marL="0">
              <a:lnSpc>
                <a:spcPct val="105000"/>
              </a:lnSpc>
              <a:buNone/>
            </a:pPr>
            <a:r>
              <a:rPr lang="en-US" sz="1100" b="1" dirty="0">
                <a:solidFill>
                  <a:srgbClr val="1A2744"/>
                </a:solidFill>
              </a:rPr>
              <a:t>置くもの</a:t>
            </a:r>
            <a:endParaRPr lang="en-US" sz="1100" dirty="0"/>
          </a:p>
          <a:p>
            <a:pPr indent="0" marL="0">
              <a:lnSpc>
                <a:spcPct val="105000"/>
              </a:lnSpc>
              <a:buNone/>
            </a:pPr>
            <a:r>
              <a:rPr lang="en-US" sz="1000" dirty="0">
                <a:solidFill>
                  <a:srgbClr val="1E293B"/>
                </a:solidFill>
              </a:rPr>
              <a:t>・レビューチェックリスト</a:t>
            </a:r>
            <a:endParaRPr lang="en-US" sz="1100" dirty="0"/>
          </a:p>
          <a:p>
            <a:pPr indent="0" marL="0">
              <a:lnSpc>
                <a:spcPct val="105000"/>
              </a:lnSpc>
              <a:buNone/>
            </a:pPr>
            <a:r>
              <a:rPr lang="en-US" sz="1000" dirty="0">
                <a:solidFill>
                  <a:srgbClr val="1E293B"/>
                </a:solidFill>
              </a:rPr>
              <a:t>・テスト確認ガイド</a:t>
            </a:r>
            <a:endParaRPr lang="en-US" sz="1100" dirty="0"/>
          </a:p>
          <a:p>
            <a:pPr indent="0" marL="0">
              <a:lnSpc>
                <a:spcPct val="105000"/>
              </a:lnSpc>
              <a:buNone/>
            </a:pPr>
            <a:r>
              <a:rPr lang="en-US" sz="1000" dirty="0">
                <a:solidFill>
                  <a:srgbClr val="1E293B"/>
                </a:solidFill>
              </a:rPr>
              <a:t>・コーディング規約</a:t>
            </a:r>
            <a:endParaRPr lang="en-US" sz="1100" dirty="0"/>
          </a:p>
          <a:p>
            <a:pPr indent="0" marL="0">
              <a:lnSpc>
                <a:spcPct val="105000"/>
              </a:lnSpc>
              <a:buNone/>
            </a:pPr>
            <a:r>
              <a:rPr lang="en-US" sz="1000" dirty="0">
                <a:solidFill>
                  <a:srgbClr val="1E293B"/>
                </a:solidFill>
              </a:rPr>
              <a:t>・出力フォーマットのサンプル</a:t>
            </a:r>
            <a:endParaRPr lang="en-US" sz="1100" dirty="0"/>
          </a:p>
          <a:p>
            <a:pPr indent="0" marL="0">
              <a:lnSpc>
                <a:spcPct val="105000"/>
              </a:lnSpc>
              <a:buNone/>
            </a:pPr>
            <a:r>
              <a:rPr lang="en-US" sz="1000" dirty="0">
                <a:solidFill>
                  <a:srgbClr val="1E293B"/>
                </a:solidFill>
              </a:rPr>
              <a:t>・NG例 / OK例</a:t>
            </a:r>
            <a:endParaRPr lang="en-US" sz="1100" dirty="0"/>
          </a:p>
          <a:p>
            <a:pPr indent="0" marL="0">
              <a:lnSpc>
                <a:spcPct val="105000"/>
              </a:lnSpc>
              <a:buNone/>
            </a:pPr>
            <a:endParaRPr lang="en-US" sz="1100" dirty="0"/>
          </a:p>
          <a:p>
            <a:pPr indent="0" marL="0">
              <a:lnSpc>
                <a:spcPct val="105000"/>
              </a:lnSpc>
              <a:buNone/>
            </a:pPr>
            <a:r>
              <a:rPr lang="en-US" sz="1100" b="1" dirty="0">
                <a:solidFill>
                  <a:srgbClr val="1A2744"/>
                </a:solidFill>
              </a:rPr>
              <a:t>SKILL.md での参照方法</a:t>
            </a:r>
            <a:endParaRPr lang="en-US" sz="1100" dirty="0"/>
          </a:p>
          <a:p>
            <a:pPr indent="0" marL="0">
              <a:lnSpc>
                <a:spcPct val="105000"/>
              </a:lnSpc>
              <a:buNone/>
            </a:pPr>
            <a:r>
              <a:rPr lang="en-US" sz="1000" dirty="0">
                <a:solidFill>
                  <a:srgbClr val="1E293B"/>
                </a:solidFill>
              </a:rPr>
              <a:t>「レビュー前に references/review-checklist.md を読む」のように、いつ読むかを明記する。</a:t>
            </a:r>
            <a:endParaRPr lang="en-US" sz="1100" dirty="0"/>
          </a:p>
        </p:txBody>
      </p:sp>
      <p:sp>
        <p:nvSpPr>
          <p:cNvPr id="12" name="Shape 10"/>
          <p:cNvSpPr/>
          <p:nvPr/>
        </p:nvSpPr>
        <p:spPr>
          <a:xfrm>
            <a:off x="4754880" y="1325880"/>
            <a:ext cx="3931920" cy="3474720"/>
          </a:xfrm>
          <a:prstGeom prst="rect">
            <a:avLst/>
          </a:prstGeom>
          <a:solidFill>
            <a:srgbClr val="FFFFFF"/>
          </a:solidFill>
          <a:ln w="12700">
            <a:solidFill>
              <a:srgbClr val="FFF3E6"/>
            </a:solidFill>
            <a:prstDash val="solid"/>
          </a:ln>
          <a:effectLst>
            <a:outerShdw sx="100000" sy="100000" kx="0" ky="0" algn="bl" rotWithShape="0" blurRad="50800" dist="25400" dir="8100000">
              <a:srgbClr val="000000">
                <a:alpha val="8000"/>
              </a:srgbClr>
            </a:outerShdw>
          </a:effectLst>
        </p:spPr>
      </p:sp>
      <p:sp>
        <p:nvSpPr>
          <p:cNvPr id="13" name="Shape 11"/>
          <p:cNvSpPr/>
          <p:nvPr/>
        </p:nvSpPr>
        <p:spPr>
          <a:xfrm>
            <a:off x="4754880" y="1325880"/>
            <a:ext cx="3931920" cy="411480"/>
          </a:xfrm>
          <a:prstGeom prst="rect">
            <a:avLst/>
          </a:prstGeom>
          <a:solidFill>
            <a:srgbClr val="FFF3E6"/>
          </a:solidFill>
          <a:ln/>
        </p:spPr>
      </p:sp>
      <p:sp>
        <p:nvSpPr>
          <p:cNvPr id="14" name="Text 12"/>
          <p:cNvSpPr/>
          <p:nvPr/>
        </p:nvSpPr>
        <p:spPr>
          <a:xfrm>
            <a:off x="4892040" y="1325880"/>
            <a:ext cx="3657600" cy="411480"/>
          </a:xfrm>
          <a:prstGeom prst="rect">
            <a:avLst/>
          </a:prstGeom>
          <a:noFill/>
          <a:ln/>
        </p:spPr>
        <p:txBody>
          <a:bodyPr wrap="square" lIns="0" tIns="0" rIns="0" bIns="0" rtlCol="0" anchor="ctr"/>
          <a:lstStyle/>
          <a:p>
            <a:pPr indent="0" marL="0">
              <a:buNone/>
            </a:pPr>
            <a:r>
              <a:rPr lang="en-US" sz="1200" b="1" dirty="0">
                <a:solidFill>
                  <a:srgbClr val="1A2744"/>
                </a:solidFill>
                <a:latin typeface="Calibri" pitchFamily="34" charset="0"/>
                <a:ea typeface="Calibri" pitchFamily="34" charset="-122"/>
                <a:cs typeface="Calibri" pitchFamily="34" charset="-120"/>
              </a:rPr>
              <a:t>scripts/  — 定型処理・自動化スクリプト</a:t>
            </a:r>
            <a:endParaRPr lang="en-US" sz="1200" dirty="0"/>
          </a:p>
        </p:txBody>
      </p:sp>
      <p:sp>
        <p:nvSpPr>
          <p:cNvPr id="15" name="Text 13"/>
          <p:cNvSpPr/>
          <p:nvPr/>
        </p:nvSpPr>
        <p:spPr>
          <a:xfrm>
            <a:off x="4892040" y="1828800"/>
            <a:ext cx="3611880" cy="2834640"/>
          </a:xfrm>
          <a:prstGeom prst="rect">
            <a:avLst/>
          </a:prstGeom>
          <a:noFill/>
          <a:ln/>
        </p:spPr>
        <p:txBody>
          <a:bodyPr wrap="square" lIns="0" tIns="0" rIns="0" bIns="0" rtlCol="0" anchor="ctr"/>
          <a:lstStyle/>
          <a:p>
            <a:pPr indent="0" marL="0">
              <a:lnSpc>
                <a:spcPct val="105000"/>
              </a:lnSpc>
              <a:buNone/>
            </a:pPr>
            <a:r>
              <a:rPr lang="en-US" sz="1100" b="1" dirty="0">
                <a:solidFill>
                  <a:srgbClr val="1A2744"/>
                </a:solidFill>
              </a:rPr>
              <a:t>役割</a:t>
            </a:r>
            <a:endParaRPr lang="en-US" sz="1100" dirty="0"/>
          </a:p>
          <a:p>
            <a:pPr indent="0" marL="0">
              <a:lnSpc>
                <a:spcPct val="105000"/>
              </a:lnSpc>
              <a:buNone/>
            </a:pPr>
            <a:r>
              <a:rPr lang="en-US" sz="1000" dirty="0">
                <a:solidFill>
                  <a:srgbClr val="1E293B"/>
                </a:solidFill>
              </a:rPr>
              <a:t>差分取得やレポート保存など、人が毎回手で打つと面倒な処理をまとめる場所。</a:t>
            </a:r>
            <a:endParaRPr lang="en-US" sz="1100" dirty="0"/>
          </a:p>
          <a:p>
            <a:pPr indent="0" marL="0">
              <a:lnSpc>
                <a:spcPct val="105000"/>
              </a:lnSpc>
              <a:buNone/>
            </a:pPr>
            <a:endParaRPr lang="en-US" sz="1100" dirty="0"/>
          </a:p>
          <a:p>
            <a:pPr indent="0" marL="0">
              <a:lnSpc>
                <a:spcPct val="105000"/>
              </a:lnSpc>
              <a:buNone/>
            </a:pPr>
            <a:r>
              <a:rPr lang="en-US" sz="1100" b="1" dirty="0">
                <a:solidFill>
                  <a:srgbClr val="1A2744"/>
                </a:solidFill>
              </a:rPr>
              <a:t>置くもの</a:t>
            </a:r>
            <a:endParaRPr lang="en-US" sz="1100" dirty="0"/>
          </a:p>
          <a:p>
            <a:pPr indent="0" marL="0">
              <a:lnSpc>
                <a:spcPct val="105000"/>
              </a:lnSpc>
              <a:buNone/>
            </a:pPr>
            <a:r>
              <a:rPr lang="en-US" sz="1000" dirty="0">
                <a:solidFill>
                  <a:srgbClr val="1E293B"/>
                </a:solidFill>
              </a:rPr>
              <a:t>・collect_diff.sh（差分取得）</a:t>
            </a:r>
            <a:endParaRPr lang="en-US" sz="1100" dirty="0"/>
          </a:p>
          <a:p>
            <a:pPr indent="0" marL="0">
              <a:lnSpc>
                <a:spcPct val="105000"/>
              </a:lnSpc>
              <a:buNone/>
            </a:pPr>
            <a:r>
              <a:rPr lang="en-US" sz="1000" dirty="0">
                <a:solidFill>
                  <a:srgbClr val="1E293B"/>
                </a:solidFill>
              </a:rPr>
              <a:t>・save_review.sh（結果保存）</a:t>
            </a:r>
            <a:endParaRPr lang="en-US" sz="1100" dirty="0"/>
          </a:p>
          <a:p>
            <a:pPr indent="0" marL="0">
              <a:lnSpc>
                <a:spcPct val="105000"/>
              </a:lnSpc>
              <a:buNone/>
            </a:pPr>
            <a:r>
              <a:rPr lang="en-US" sz="1000" dirty="0">
                <a:solidFill>
                  <a:srgbClr val="1E293B"/>
                </a:solidFill>
              </a:rPr>
              <a:t>・lint / test の一括実行</a:t>
            </a:r>
            <a:endParaRPr lang="en-US" sz="1100" dirty="0"/>
          </a:p>
          <a:p>
            <a:pPr indent="0" marL="0">
              <a:lnSpc>
                <a:spcPct val="105000"/>
              </a:lnSpc>
              <a:buNone/>
            </a:pPr>
            <a:endParaRPr lang="en-US" sz="1100" dirty="0"/>
          </a:p>
          <a:p>
            <a:pPr indent="0" marL="0">
              <a:lnSpc>
                <a:spcPct val="105000"/>
              </a:lnSpc>
              <a:buNone/>
            </a:pPr>
            <a:r>
              <a:rPr lang="en-US" sz="1100" b="1" dirty="0">
                <a:solidFill>
                  <a:srgbClr val="DC2626"/>
                </a:solidFill>
              </a:rPr>
              <a:t>実行権限を忘れずに</a:t>
            </a:r>
            <a:endParaRPr lang="en-US" sz="1100" dirty="0"/>
          </a:p>
          <a:p>
            <a:pPr indent="0" marL="0">
              <a:lnSpc>
                <a:spcPct val="105000"/>
              </a:lnSpc>
              <a:buNone/>
            </a:pPr>
            <a:r>
              <a:rPr lang="en-US" sz="1000" dirty="0">
                <a:solidFill>
                  <a:srgbClr val="3B7DD8"/>
                </a:solidFill>
                <a:latin typeface="Consolas" pitchFamily="34" charset="0"/>
                <a:ea typeface="Consolas" pitchFamily="34" charset="-122"/>
                <a:cs typeface="Consolas" pitchFamily="34" charset="-120"/>
              </a:rPr>
              <a:t>chmod +x scripts/*.sh</a:t>
            </a:r>
            <a:endParaRPr lang="en-US" sz="1100" dirty="0"/>
          </a:p>
          <a:p>
            <a:pPr indent="0" marL="0">
              <a:lnSpc>
                <a:spcPct val="105000"/>
              </a:lnSpc>
              <a:buNone/>
            </a:pPr>
            <a:endParaRPr lang="en-US" sz="1100" dirty="0"/>
          </a:p>
          <a:p>
            <a:pPr indent="0" marL="0">
              <a:lnSpc>
                <a:spcPct val="105000"/>
              </a:lnSpc>
              <a:buNone/>
            </a:pPr>
            <a:r>
              <a:rPr lang="en-US" sz="1100" b="1" dirty="0">
                <a:solidFill>
                  <a:srgbClr val="1A2744"/>
                </a:solidFill>
              </a:rPr>
              <a:t>SKILL.md での参照方法</a:t>
            </a:r>
            <a:endParaRPr lang="en-US" sz="1100" dirty="0"/>
          </a:p>
          <a:p>
            <a:pPr indent="0" marL="0">
              <a:lnSpc>
                <a:spcPct val="105000"/>
              </a:lnSpc>
              <a:buNone/>
            </a:pPr>
            <a:r>
              <a:rPr lang="en-US" sz="1000" dirty="0">
                <a:solidFill>
                  <a:srgbClr val="1E293B"/>
                </a:solidFill>
              </a:rPr>
              <a:t>「差分が必要なら scripts/collect_diff.sh を実行」のように、いつ実行するかを明記する。</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07</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拡張後の完成形：ディレクトリ構成</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Shape 5"/>
          <p:cNvSpPr/>
          <p:nvPr/>
        </p:nvSpPr>
        <p:spPr>
          <a:xfrm>
            <a:off x="457200" y="868680"/>
            <a:ext cx="4114800" cy="4023360"/>
          </a:xfrm>
          <a:prstGeom prst="rect">
            <a:avLst/>
          </a:prstGeom>
          <a:solidFill>
            <a:srgbClr val="111B33"/>
          </a:solidFill>
          <a:ln/>
        </p:spPr>
      </p:sp>
      <p:sp>
        <p:nvSpPr>
          <p:cNvPr id="8" name="Text 6"/>
          <p:cNvSpPr/>
          <p:nvPr/>
        </p:nvSpPr>
        <p:spPr>
          <a:xfrm>
            <a:off x="594360" y="914400"/>
            <a:ext cx="3840480" cy="274320"/>
          </a:xfrm>
          <a:prstGeom prst="rect">
            <a:avLst/>
          </a:prstGeom>
          <a:noFill/>
          <a:ln/>
        </p:spPr>
        <p:txBody>
          <a:bodyPr wrap="square" lIns="0" tIns="0" rIns="0" bIns="0" rtlCol="0" anchor="ctr"/>
          <a:lstStyle/>
          <a:p>
            <a:pPr indent="0" marL="0">
              <a:buNone/>
            </a:pPr>
            <a:r>
              <a:rPr lang="en-US" sz="1100" b="1" dirty="0">
                <a:solidFill>
                  <a:srgbClr val="E8913A"/>
                </a:solidFill>
                <a:latin typeface="Calibri" pitchFamily="34" charset="0"/>
                <a:ea typeface="Calibri" pitchFamily="34" charset="-122"/>
                <a:cs typeface="Calibri" pitchFamily="34" charset="-120"/>
              </a:rPr>
              <a:t>ディレクトリ構成</a:t>
            </a:r>
            <a:endParaRPr lang="en-US" sz="1100" dirty="0"/>
          </a:p>
        </p:txBody>
      </p:sp>
      <p:sp>
        <p:nvSpPr>
          <p:cNvPr id="9" name="Text 7"/>
          <p:cNvSpPr/>
          <p:nvPr/>
        </p:nvSpPr>
        <p:spPr>
          <a:xfrm>
            <a:off x="685800" y="1280160"/>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.cursor/</a:t>
            </a:r>
            <a:endParaRPr lang="en-US" sz="900" dirty="0"/>
          </a:p>
        </p:txBody>
      </p:sp>
      <p:sp>
        <p:nvSpPr>
          <p:cNvPr id="10" name="Text 8"/>
          <p:cNvSpPr/>
          <p:nvPr/>
        </p:nvSpPr>
        <p:spPr>
          <a:xfrm>
            <a:off x="685800" y="1481328"/>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  skills/</a:t>
            </a:r>
            <a:endParaRPr lang="en-US" sz="900" dirty="0"/>
          </a:p>
        </p:txBody>
      </p:sp>
      <p:sp>
        <p:nvSpPr>
          <p:cNvPr id="11" name="Text 9"/>
          <p:cNvSpPr/>
          <p:nvPr/>
        </p:nvSpPr>
        <p:spPr>
          <a:xfrm>
            <a:off x="685800" y="1682496"/>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    code-review-lite/        ← Skill ルート</a:t>
            </a:r>
            <a:endParaRPr lang="en-US" sz="900" dirty="0"/>
          </a:p>
        </p:txBody>
      </p:sp>
      <p:sp>
        <p:nvSpPr>
          <p:cNvPr id="12" name="Text 10"/>
          <p:cNvSpPr/>
          <p:nvPr/>
        </p:nvSpPr>
        <p:spPr>
          <a:xfrm>
            <a:off x="685800" y="1883664"/>
            <a:ext cx="3749040" cy="182880"/>
          </a:xfrm>
          <a:prstGeom prst="rect">
            <a:avLst/>
          </a:prstGeom>
          <a:noFill/>
          <a:ln/>
        </p:spPr>
        <p:txBody>
          <a:bodyPr wrap="square" lIns="0" tIns="0" rIns="0" bIns="0" rtlCol="0" anchor="ctr"/>
          <a:lstStyle/>
          <a:p>
            <a:pPr indent="0" marL="0">
              <a:buNone/>
            </a:pPr>
            <a:r>
              <a:rPr lang="en-US" sz="900" dirty="0">
                <a:solidFill>
                  <a:srgbClr val="E8913A"/>
                </a:solidFill>
                <a:latin typeface="Consolas" pitchFamily="34" charset="0"/>
                <a:ea typeface="Consolas" pitchFamily="34" charset="-122"/>
                <a:cs typeface="Consolas" pitchFamily="34" charset="-120"/>
              </a:rPr>
              <a:t>      SKILL.md                 ← 必須：司令塔</a:t>
            </a:r>
            <a:endParaRPr lang="en-US" sz="900" dirty="0"/>
          </a:p>
        </p:txBody>
      </p:sp>
      <p:sp>
        <p:nvSpPr>
          <p:cNvPr id="13" name="Text 11"/>
          <p:cNvSpPr/>
          <p:nvPr/>
        </p:nvSpPr>
        <p:spPr>
          <a:xfrm>
            <a:off x="685800" y="2084832"/>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      references/</a:t>
            </a:r>
            <a:endParaRPr lang="en-US" sz="900" dirty="0"/>
          </a:p>
        </p:txBody>
      </p:sp>
      <p:sp>
        <p:nvSpPr>
          <p:cNvPr id="14" name="Text 12"/>
          <p:cNvSpPr/>
          <p:nvPr/>
        </p:nvSpPr>
        <p:spPr>
          <a:xfrm>
            <a:off x="685800" y="2286000"/>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        review-checklist.md    ← チェックリスト</a:t>
            </a:r>
            <a:endParaRPr lang="en-US" sz="900" dirty="0"/>
          </a:p>
        </p:txBody>
      </p:sp>
      <p:sp>
        <p:nvSpPr>
          <p:cNvPr id="15" name="Text 13"/>
          <p:cNvSpPr/>
          <p:nvPr/>
        </p:nvSpPr>
        <p:spPr>
          <a:xfrm>
            <a:off x="685800" y="2487168"/>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        test-guidelines.md     ← テスト確認ガイド</a:t>
            </a:r>
            <a:endParaRPr lang="en-US" sz="900" dirty="0"/>
          </a:p>
        </p:txBody>
      </p:sp>
      <p:sp>
        <p:nvSpPr>
          <p:cNvPr id="16" name="Text 14"/>
          <p:cNvSpPr/>
          <p:nvPr/>
        </p:nvSpPr>
        <p:spPr>
          <a:xfrm>
            <a:off x="685800" y="2688336"/>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      scripts/</a:t>
            </a:r>
            <a:endParaRPr lang="en-US" sz="900" dirty="0"/>
          </a:p>
        </p:txBody>
      </p:sp>
      <p:sp>
        <p:nvSpPr>
          <p:cNvPr id="17" name="Text 15"/>
          <p:cNvSpPr/>
          <p:nvPr/>
        </p:nvSpPr>
        <p:spPr>
          <a:xfrm>
            <a:off x="685800" y="2889504"/>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        collect_diff.sh        ← 差分取得</a:t>
            </a:r>
            <a:endParaRPr lang="en-US" sz="900" dirty="0"/>
          </a:p>
        </p:txBody>
      </p:sp>
      <p:sp>
        <p:nvSpPr>
          <p:cNvPr id="18" name="Text 16"/>
          <p:cNvSpPr/>
          <p:nvPr/>
        </p:nvSpPr>
        <p:spPr>
          <a:xfrm>
            <a:off x="685800" y="3090672"/>
            <a:ext cx="3749040" cy="182880"/>
          </a:xfrm>
          <a:prstGeom prst="rect">
            <a:avLst/>
          </a:prstGeom>
          <a:noFill/>
          <a:ln/>
        </p:spPr>
        <p:txBody>
          <a:bodyPr wrap="square" lIns="0" tIns="0" rIns="0" bIns="0" rtlCol="0" anchor="ctr"/>
          <a:lstStyle/>
          <a:p>
            <a:pPr indent="0" marL="0">
              <a:buNone/>
            </a:pPr>
            <a:r>
              <a:rPr lang="en-US" sz="900" dirty="0">
                <a:solidFill>
                  <a:srgbClr val="D6E6F9"/>
                </a:solidFill>
                <a:latin typeface="Consolas" pitchFamily="34" charset="0"/>
                <a:ea typeface="Consolas" pitchFamily="34" charset="-122"/>
                <a:cs typeface="Consolas" pitchFamily="34" charset="-120"/>
              </a:rPr>
              <a:t>        save_review.sh         ← 結果保存</a:t>
            </a:r>
            <a:endParaRPr lang="en-US" sz="900" dirty="0"/>
          </a:p>
        </p:txBody>
      </p:sp>
      <p:sp>
        <p:nvSpPr>
          <p:cNvPr id="19" name="Shape 17"/>
          <p:cNvSpPr/>
          <p:nvPr/>
        </p:nvSpPr>
        <p:spPr>
          <a:xfrm>
            <a:off x="4846320" y="868680"/>
            <a:ext cx="3931920" cy="749808"/>
          </a:xfrm>
          <a:prstGeom prst="rect">
            <a:avLst/>
          </a:prstGeom>
          <a:solidFill>
            <a:srgbClr val="F5F7FA"/>
          </a:solidFill>
          <a:ln w="6350">
            <a:solidFill>
              <a:srgbClr val="E2E8F0"/>
            </a:solidFill>
            <a:prstDash val="solid"/>
          </a:ln>
        </p:spPr>
      </p:sp>
      <p:sp>
        <p:nvSpPr>
          <p:cNvPr id="20" name="Shape 18"/>
          <p:cNvSpPr/>
          <p:nvPr/>
        </p:nvSpPr>
        <p:spPr>
          <a:xfrm>
            <a:off x="4846320" y="868680"/>
            <a:ext cx="54864" cy="749808"/>
          </a:xfrm>
          <a:prstGeom prst="rect">
            <a:avLst/>
          </a:prstGeom>
          <a:solidFill>
            <a:srgbClr val="E8913A"/>
          </a:solidFill>
          <a:ln/>
        </p:spPr>
      </p:sp>
      <p:sp>
        <p:nvSpPr>
          <p:cNvPr id="21" name="Text 19"/>
          <p:cNvSpPr/>
          <p:nvPr/>
        </p:nvSpPr>
        <p:spPr>
          <a:xfrm>
            <a:off x="5029200" y="896112"/>
            <a:ext cx="3566160" cy="228600"/>
          </a:xfrm>
          <a:prstGeom prst="rect">
            <a:avLst/>
          </a:prstGeom>
          <a:noFill/>
          <a:ln/>
        </p:spPr>
        <p:txBody>
          <a:bodyPr wrap="square" lIns="0" tIns="0" rIns="0" bIns="0" rtlCol="0" anchor="ctr"/>
          <a:lstStyle/>
          <a:p>
            <a:pPr indent="0" marL="0">
              <a:buNone/>
            </a:pPr>
            <a:r>
              <a:rPr lang="en-US" sz="1000" b="1" dirty="0">
                <a:solidFill>
                  <a:srgbClr val="1A2744"/>
                </a:solidFill>
                <a:latin typeface="Consolas" pitchFamily="34" charset="0"/>
                <a:ea typeface="Consolas" pitchFamily="34" charset="-122"/>
                <a:cs typeface="Consolas" pitchFamily="34" charset="-120"/>
              </a:rPr>
              <a:t>SKILL.md</a:t>
            </a:r>
            <a:endParaRPr lang="en-US" sz="1000" dirty="0"/>
          </a:p>
        </p:txBody>
      </p:sp>
      <p:sp>
        <p:nvSpPr>
          <p:cNvPr id="22" name="Text 20"/>
          <p:cNvSpPr/>
          <p:nvPr/>
        </p:nvSpPr>
        <p:spPr>
          <a:xfrm>
            <a:off x="5029200" y="1143000"/>
            <a:ext cx="3566160" cy="43891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スキルの入口。name、description、利用条件、手順、参照先を記述。短く保ち、詳細は別ファイルへ。</a:t>
            </a:r>
            <a:endParaRPr lang="en-US" sz="900" dirty="0"/>
          </a:p>
        </p:txBody>
      </p:sp>
      <p:sp>
        <p:nvSpPr>
          <p:cNvPr id="23" name="Shape 21"/>
          <p:cNvSpPr/>
          <p:nvPr/>
        </p:nvSpPr>
        <p:spPr>
          <a:xfrm>
            <a:off x="4846320" y="1673352"/>
            <a:ext cx="3931920" cy="749808"/>
          </a:xfrm>
          <a:prstGeom prst="rect">
            <a:avLst/>
          </a:prstGeom>
          <a:solidFill>
            <a:srgbClr val="F5F7FA"/>
          </a:solidFill>
          <a:ln w="6350">
            <a:solidFill>
              <a:srgbClr val="E2E8F0"/>
            </a:solidFill>
            <a:prstDash val="solid"/>
          </a:ln>
        </p:spPr>
      </p:sp>
      <p:sp>
        <p:nvSpPr>
          <p:cNvPr id="24" name="Shape 22"/>
          <p:cNvSpPr/>
          <p:nvPr/>
        </p:nvSpPr>
        <p:spPr>
          <a:xfrm>
            <a:off x="4846320" y="1673352"/>
            <a:ext cx="54864" cy="749808"/>
          </a:xfrm>
          <a:prstGeom prst="rect">
            <a:avLst/>
          </a:prstGeom>
          <a:solidFill>
            <a:srgbClr val="3B7DD8"/>
          </a:solidFill>
          <a:ln/>
        </p:spPr>
      </p:sp>
      <p:sp>
        <p:nvSpPr>
          <p:cNvPr id="25" name="Text 23"/>
          <p:cNvSpPr/>
          <p:nvPr/>
        </p:nvSpPr>
        <p:spPr>
          <a:xfrm>
            <a:off x="5029200" y="1700784"/>
            <a:ext cx="3566160" cy="228600"/>
          </a:xfrm>
          <a:prstGeom prst="rect">
            <a:avLst/>
          </a:prstGeom>
          <a:noFill/>
          <a:ln/>
        </p:spPr>
        <p:txBody>
          <a:bodyPr wrap="square" lIns="0" tIns="0" rIns="0" bIns="0" rtlCol="0" anchor="ctr"/>
          <a:lstStyle/>
          <a:p>
            <a:pPr indent="0" marL="0">
              <a:buNone/>
            </a:pPr>
            <a:r>
              <a:rPr lang="en-US" sz="1000" b="1" dirty="0">
                <a:solidFill>
                  <a:srgbClr val="1A2744"/>
                </a:solidFill>
                <a:latin typeface="Consolas" pitchFamily="34" charset="0"/>
                <a:ea typeface="Consolas" pitchFamily="34" charset="-122"/>
                <a:cs typeface="Consolas" pitchFamily="34" charset="-120"/>
              </a:rPr>
              <a:t>review-checklist.md</a:t>
            </a:r>
            <a:endParaRPr lang="en-US" sz="1000" dirty="0"/>
          </a:p>
        </p:txBody>
      </p:sp>
      <p:sp>
        <p:nvSpPr>
          <p:cNvPr id="26" name="Text 24"/>
          <p:cNvSpPr/>
          <p:nvPr/>
        </p:nvSpPr>
        <p:spPr>
          <a:xfrm>
            <a:off x="5029200" y="1947672"/>
            <a:ext cx="3566160" cy="43891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正しさ・可読性・リスク・テストの4観点でチェック項目を整理。SKILL.md から「レビュー前に読む」と指示。</a:t>
            </a:r>
            <a:endParaRPr lang="en-US" sz="900" dirty="0"/>
          </a:p>
        </p:txBody>
      </p:sp>
      <p:sp>
        <p:nvSpPr>
          <p:cNvPr id="27" name="Shape 25"/>
          <p:cNvSpPr/>
          <p:nvPr/>
        </p:nvSpPr>
        <p:spPr>
          <a:xfrm>
            <a:off x="4846320" y="2478024"/>
            <a:ext cx="3931920" cy="749808"/>
          </a:xfrm>
          <a:prstGeom prst="rect">
            <a:avLst/>
          </a:prstGeom>
          <a:solidFill>
            <a:srgbClr val="F5F7FA"/>
          </a:solidFill>
          <a:ln w="6350">
            <a:solidFill>
              <a:srgbClr val="E2E8F0"/>
            </a:solidFill>
            <a:prstDash val="solid"/>
          </a:ln>
        </p:spPr>
      </p:sp>
      <p:sp>
        <p:nvSpPr>
          <p:cNvPr id="28" name="Shape 26"/>
          <p:cNvSpPr/>
          <p:nvPr/>
        </p:nvSpPr>
        <p:spPr>
          <a:xfrm>
            <a:off x="4846320" y="2478024"/>
            <a:ext cx="54864" cy="749808"/>
          </a:xfrm>
          <a:prstGeom prst="rect">
            <a:avLst/>
          </a:prstGeom>
          <a:solidFill>
            <a:srgbClr val="3B7DD8"/>
          </a:solidFill>
          <a:ln/>
        </p:spPr>
      </p:sp>
      <p:sp>
        <p:nvSpPr>
          <p:cNvPr id="29" name="Text 27"/>
          <p:cNvSpPr/>
          <p:nvPr/>
        </p:nvSpPr>
        <p:spPr>
          <a:xfrm>
            <a:off x="5029200" y="2505456"/>
            <a:ext cx="3566160" cy="228600"/>
          </a:xfrm>
          <a:prstGeom prst="rect">
            <a:avLst/>
          </a:prstGeom>
          <a:noFill/>
          <a:ln/>
        </p:spPr>
        <p:txBody>
          <a:bodyPr wrap="square" lIns="0" tIns="0" rIns="0" bIns="0" rtlCol="0" anchor="ctr"/>
          <a:lstStyle/>
          <a:p>
            <a:pPr indent="0" marL="0">
              <a:buNone/>
            </a:pPr>
            <a:r>
              <a:rPr lang="en-US" sz="1000" b="1" dirty="0">
                <a:solidFill>
                  <a:srgbClr val="1A2744"/>
                </a:solidFill>
                <a:latin typeface="Consolas" pitchFamily="34" charset="0"/>
                <a:ea typeface="Consolas" pitchFamily="34" charset="-122"/>
                <a:cs typeface="Consolas" pitchFamily="34" charset="-120"/>
              </a:rPr>
              <a:t>test-guidelines.md</a:t>
            </a:r>
            <a:endParaRPr lang="en-US" sz="1000" dirty="0"/>
          </a:p>
        </p:txBody>
      </p:sp>
      <p:sp>
        <p:nvSpPr>
          <p:cNvPr id="30" name="Text 28"/>
          <p:cNvSpPr/>
          <p:nvPr/>
        </p:nvSpPr>
        <p:spPr>
          <a:xfrm>
            <a:off x="5029200" y="2752344"/>
            <a:ext cx="3566160" cy="43891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テスト確認・提案の判断基準。「テスト関連の変更がある場合に読む」と SKILL.md で条件付け。</a:t>
            </a:r>
            <a:endParaRPr lang="en-US" sz="900" dirty="0"/>
          </a:p>
        </p:txBody>
      </p:sp>
      <p:sp>
        <p:nvSpPr>
          <p:cNvPr id="31" name="Shape 29"/>
          <p:cNvSpPr/>
          <p:nvPr/>
        </p:nvSpPr>
        <p:spPr>
          <a:xfrm>
            <a:off x="4846320" y="3282696"/>
            <a:ext cx="3931920" cy="749808"/>
          </a:xfrm>
          <a:prstGeom prst="rect">
            <a:avLst/>
          </a:prstGeom>
          <a:solidFill>
            <a:srgbClr val="F5F7FA"/>
          </a:solidFill>
          <a:ln w="6350">
            <a:solidFill>
              <a:srgbClr val="E2E8F0"/>
            </a:solidFill>
            <a:prstDash val="solid"/>
          </a:ln>
        </p:spPr>
      </p:sp>
      <p:sp>
        <p:nvSpPr>
          <p:cNvPr id="32" name="Shape 30"/>
          <p:cNvSpPr/>
          <p:nvPr/>
        </p:nvSpPr>
        <p:spPr>
          <a:xfrm>
            <a:off x="4846320" y="3282696"/>
            <a:ext cx="54864" cy="749808"/>
          </a:xfrm>
          <a:prstGeom prst="rect">
            <a:avLst/>
          </a:prstGeom>
          <a:solidFill>
            <a:srgbClr val="16A34A"/>
          </a:solidFill>
          <a:ln/>
        </p:spPr>
      </p:sp>
      <p:sp>
        <p:nvSpPr>
          <p:cNvPr id="33" name="Text 31"/>
          <p:cNvSpPr/>
          <p:nvPr/>
        </p:nvSpPr>
        <p:spPr>
          <a:xfrm>
            <a:off x="5029200" y="3310128"/>
            <a:ext cx="3566160" cy="228600"/>
          </a:xfrm>
          <a:prstGeom prst="rect">
            <a:avLst/>
          </a:prstGeom>
          <a:noFill/>
          <a:ln/>
        </p:spPr>
        <p:txBody>
          <a:bodyPr wrap="square" lIns="0" tIns="0" rIns="0" bIns="0" rtlCol="0" anchor="ctr"/>
          <a:lstStyle/>
          <a:p>
            <a:pPr indent="0" marL="0">
              <a:buNone/>
            </a:pPr>
            <a:r>
              <a:rPr lang="en-US" sz="1000" b="1" dirty="0">
                <a:solidFill>
                  <a:srgbClr val="1A2744"/>
                </a:solidFill>
                <a:latin typeface="Consolas" pitchFamily="34" charset="0"/>
                <a:ea typeface="Consolas" pitchFamily="34" charset="-122"/>
                <a:cs typeface="Consolas" pitchFamily="34" charset="-120"/>
              </a:rPr>
              <a:t>collect_diff.sh</a:t>
            </a:r>
            <a:endParaRPr lang="en-US" sz="1000" dirty="0"/>
          </a:p>
        </p:txBody>
      </p:sp>
      <p:sp>
        <p:nvSpPr>
          <p:cNvPr id="34" name="Text 32"/>
          <p:cNvSpPr/>
          <p:nvPr/>
        </p:nvSpPr>
        <p:spPr>
          <a:xfrm>
            <a:off x="5029200" y="3557016"/>
            <a:ext cx="3566160" cy="43891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main ブランチとの差分ファイル一覧と差分内容を表示。引数でベースブランチを変更可能。</a:t>
            </a:r>
            <a:endParaRPr lang="en-US" sz="900" dirty="0"/>
          </a:p>
        </p:txBody>
      </p:sp>
      <p:sp>
        <p:nvSpPr>
          <p:cNvPr id="35" name="Shape 33"/>
          <p:cNvSpPr/>
          <p:nvPr/>
        </p:nvSpPr>
        <p:spPr>
          <a:xfrm>
            <a:off x="4846320" y="4087368"/>
            <a:ext cx="3931920" cy="749808"/>
          </a:xfrm>
          <a:prstGeom prst="rect">
            <a:avLst/>
          </a:prstGeom>
          <a:solidFill>
            <a:srgbClr val="F5F7FA"/>
          </a:solidFill>
          <a:ln w="6350">
            <a:solidFill>
              <a:srgbClr val="E2E8F0"/>
            </a:solidFill>
            <a:prstDash val="solid"/>
          </a:ln>
        </p:spPr>
      </p:sp>
      <p:sp>
        <p:nvSpPr>
          <p:cNvPr id="36" name="Shape 34"/>
          <p:cNvSpPr/>
          <p:nvPr/>
        </p:nvSpPr>
        <p:spPr>
          <a:xfrm>
            <a:off x="4846320" y="4087368"/>
            <a:ext cx="54864" cy="749808"/>
          </a:xfrm>
          <a:prstGeom prst="rect">
            <a:avLst/>
          </a:prstGeom>
          <a:solidFill>
            <a:srgbClr val="16A34A"/>
          </a:solidFill>
          <a:ln/>
        </p:spPr>
      </p:sp>
      <p:sp>
        <p:nvSpPr>
          <p:cNvPr id="37" name="Text 35"/>
          <p:cNvSpPr/>
          <p:nvPr/>
        </p:nvSpPr>
        <p:spPr>
          <a:xfrm>
            <a:off x="5029200" y="4114800"/>
            <a:ext cx="3566160" cy="228600"/>
          </a:xfrm>
          <a:prstGeom prst="rect">
            <a:avLst/>
          </a:prstGeom>
          <a:noFill/>
          <a:ln/>
        </p:spPr>
        <p:txBody>
          <a:bodyPr wrap="square" lIns="0" tIns="0" rIns="0" bIns="0" rtlCol="0" anchor="ctr"/>
          <a:lstStyle/>
          <a:p>
            <a:pPr indent="0" marL="0">
              <a:buNone/>
            </a:pPr>
            <a:r>
              <a:rPr lang="en-US" sz="1000" b="1" dirty="0">
                <a:solidFill>
                  <a:srgbClr val="1A2744"/>
                </a:solidFill>
                <a:latin typeface="Consolas" pitchFamily="34" charset="0"/>
                <a:ea typeface="Consolas" pitchFamily="34" charset="-122"/>
                <a:cs typeface="Consolas" pitchFamily="34" charset="-120"/>
              </a:rPr>
              <a:t>save_review.sh</a:t>
            </a:r>
            <a:endParaRPr lang="en-US" sz="1000" dirty="0"/>
          </a:p>
        </p:txBody>
      </p:sp>
      <p:sp>
        <p:nvSpPr>
          <p:cNvPr id="38" name="Text 36"/>
          <p:cNvSpPr/>
          <p:nvPr/>
        </p:nvSpPr>
        <p:spPr>
          <a:xfrm>
            <a:off x="5029200" y="4361688"/>
            <a:ext cx="3566160" cy="43891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レビュー結果を .cursor/review-output/ にタイムスタンプ付きで保存。パイプで結果を受け取る。</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08</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description の磨き方</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Text 5"/>
          <p:cNvSpPr/>
          <p:nvPr/>
        </p:nvSpPr>
        <p:spPr>
          <a:xfrm>
            <a:off x="822960" y="822960"/>
            <a:ext cx="777240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description は Agent の自動発火率に直結する最重要フィールドです。「何をするか」だけでなく「ユーザーがどんな依頼をした時に使うか」を書くのがポイント。</a:t>
            </a:r>
            <a:endParaRPr lang="en-US" sz="1100" dirty="0"/>
          </a:p>
        </p:txBody>
      </p:sp>
      <p:sp>
        <p:nvSpPr>
          <p:cNvPr id="8" name="Shape 6"/>
          <p:cNvSpPr/>
          <p:nvPr/>
        </p:nvSpPr>
        <p:spPr>
          <a:xfrm>
            <a:off x="457200" y="1371600"/>
            <a:ext cx="8229600" cy="1280160"/>
          </a:xfrm>
          <a:prstGeom prst="rect">
            <a:avLst/>
          </a:prstGeom>
          <a:solidFill>
            <a:srgbClr val="FEE2E2"/>
          </a:solidFill>
          <a:ln/>
        </p:spPr>
      </p:sp>
      <p:sp>
        <p:nvSpPr>
          <p:cNvPr id="9" name="Text 7"/>
          <p:cNvSpPr/>
          <p:nvPr/>
        </p:nvSpPr>
        <p:spPr>
          <a:xfrm>
            <a:off x="640080" y="1417320"/>
            <a:ext cx="7863840" cy="274320"/>
          </a:xfrm>
          <a:prstGeom prst="rect">
            <a:avLst/>
          </a:prstGeom>
          <a:noFill/>
          <a:ln/>
        </p:spPr>
        <p:txBody>
          <a:bodyPr wrap="square" lIns="0" tIns="0" rIns="0" bIns="0"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 悪い例（発火しにくい）</a:t>
            </a:r>
            <a:endParaRPr lang="en-US" sz="1300" dirty="0"/>
          </a:p>
        </p:txBody>
      </p:sp>
      <p:sp>
        <p:nvSpPr>
          <p:cNvPr id="10" name="Shape 8"/>
          <p:cNvSpPr/>
          <p:nvPr/>
        </p:nvSpPr>
        <p:spPr>
          <a:xfrm>
            <a:off x="640080" y="1737360"/>
            <a:ext cx="7680960" cy="365760"/>
          </a:xfrm>
          <a:prstGeom prst="rect">
            <a:avLst/>
          </a:prstGeom>
          <a:solidFill>
            <a:srgbClr val="FFFFFF"/>
          </a:solidFill>
          <a:ln/>
        </p:spPr>
      </p:sp>
      <p:sp>
        <p:nvSpPr>
          <p:cNvPr id="11" name="Text 9"/>
          <p:cNvSpPr/>
          <p:nvPr/>
        </p:nvSpPr>
        <p:spPr>
          <a:xfrm>
            <a:off x="777240" y="1737360"/>
            <a:ext cx="7406640" cy="365760"/>
          </a:xfrm>
          <a:prstGeom prst="rect">
            <a:avLst/>
          </a:prstGeom>
          <a:noFill/>
          <a:ln/>
        </p:spPr>
        <p:txBody>
          <a:bodyPr wrap="square" lIns="0" tIns="0" rIns="0" bIns="0" rtlCol="0" anchor="ctr"/>
          <a:lstStyle/>
          <a:p>
            <a:pPr indent="0" marL="0">
              <a:buNone/>
            </a:pPr>
            <a:r>
              <a:rPr lang="en-US" sz="1100" dirty="0">
                <a:solidFill>
                  <a:srgbClr val="DC2626"/>
                </a:solidFill>
                <a:latin typeface="Consolas" pitchFamily="34" charset="0"/>
                <a:ea typeface="Consolas" pitchFamily="34" charset="-122"/>
                <a:cs typeface="Consolas" pitchFamily="34" charset="-120"/>
              </a:rPr>
              <a:t>description: "This skill reviews code."</a:t>
            </a:r>
            <a:endParaRPr lang="en-US" sz="1100" dirty="0"/>
          </a:p>
        </p:txBody>
      </p:sp>
      <p:sp>
        <p:nvSpPr>
          <p:cNvPr id="12" name="Text 10"/>
          <p:cNvSpPr/>
          <p:nvPr/>
        </p:nvSpPr>
        <p:spPr>
          <a:xfrm>
            <a:off x="640080" y="2148840"/>
            <a:ext cx="768096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問題点：何をするかしか書いていない。Agent は「ユーザーの依頼」と「description」のマッチングで判定するため、依頼パターンが書かれていないと関連性を判断できず発火しない。</a:t>
            </a:r>
            <a:endParaRPr lang="en-US" sz="1000" dirty="0"/>
          </a:p>
        </p:txBody>
      </p:sp>
      <p:sp>
        <p:nvSpPr>
          <p:cNvPr id="13" name="Shape 11"/>
          <p:cNvSpPr/>
          <p:nvPr/>
        </p:nvSpPr>
        <p:spPr>
          <a:xfrm>
            <a:off x="457200" y="2834640"/>
            <a:ext cx="8229600" cy="1554480"/>
          </a:xfrm>
          <a:prstGeom prst="rect">
            <a:avLst/>
          </a:prstGeom>
          <a:solidFill>
            <a:srgbClr val="DCFCE7"/>
          </a:solidFill>
          <a:ln/>
        </p:spPr>
      </p:sp>
      <p:sp>
        <p:nvSpPr>
          <p:cNvPr id="14" name="Text 12"/>
          <p:cNvSpPr/>
          <p:nvPr/>
        </p:nvSpPr>
        <p:spPr>
          <a:xfrm>
            <a:off x="640080" y="2880360"/>
            <a:ext cx="7863840" cy="274320"/>
          </a:xfrm>
          <a:prstGeom prst="rect">
            <a:avLst/>
          </a:prstGeom>
          <a:noFill/>
          <a:ln/>
        </p:spPr>
        <p:txBody>
          <a:bodyPr wrap="square" lIns="0" tIns="0" rIns="0" bIns="0"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 良い例（発火しやすい）</a:t>
            </a:r>
            <a:endParaRPr lang="en-US" sz="1300" dirty="0"/>
          </a:p>
        </p:txBody>
      </p:sp>
      <p:sp>
        <p:nvSpPr>
          <p:cNvPr id="15" name="Shape 13"/>
          <p:cNvSpPr/>
          <p:nvPr/>
        </p:nvSpPr>
        <p:spPr>
          <a:xfrm>
            <a:off x="640080" y="3200400"/>
            <a:ext cx="7680960" cy="548640"/>
          </a:xfrm>
          <a:prstGeom prst="rect">
            <a:avLst/>
          </a:prstGeom>
          <a:solidFill>
            <a:srgbClr val="FFFFFF"/>
          </a:solidFill>
          <a:ln/>
        </p:spPr>
      </p:sp>
      <p:sp>
        <p:nvSpPr>
          <p:cNvPr id="16" name="Text 14"/>
          <p:cNvSpPr/>
          <p:nvPr/>
        </p:nvSpPr>
        <p:spPr>
          <a:xfrm>
            <a:off x="777240" y="3200400"/>
            <a:ext cx="7406640" cy="548640"/>
          </a:xfrm>
          <a:prstGeom prst="rect">
            <a:avLst/>
          </a:prstGeom>
          <a:noFill/>
          <a:ln/>
        </p:spPr>
        <p:txBody>
          <a:bodyPr wrap="square" lIns="0" tIns="0" rIns="0" bIns="0" rtlCol="0" anchor="ctr"/>
          <a:lstStyle/>
          <a:p>
            <a:pPr indent="0" marL="0">
              <a:buNone/>
            </a:pPr>
            <a:r>
              <a:rPr lang="en-US" sz="1000" dirty="0">
                <a:solidFill>
                  <a:srgbClr val="16A34A"/>
                </a:solidFill>
                <a:latin typeface="Consolas" pitchFamily="34" charset="0"/>
                <a:ea typeface="Consolas" pitchFamily="34" charset="-122"/>
                <a:cs typeface="Consolas" pitchFamily="34" charset="-120"/>
              </a:rPr>
              <a:t>description: コードレビュー、PRレビュー、差分レビュー、</a:t>
            </a:r>
            <a:endParaRPr lang="en-US" sz="1000" dirty="0"/>
          </a:p>
          <a:p>
            <a:pPr indent="0" marL="0">
              <a:buNone/>
            </a:pPr>
            <a:r>
              <a:rPr lang="en-US" sz="1000" dirty="0">
                <a:solidFill>
                  <a:srgbClr val="16A34A"/>
                </a:solidFill>
                <a:latin typeface="Consolas" pitchFamily="34" charset="0"/>
                <a:ea typeface="Consolas" pitchFamily="34" charset="-122"/>
                <a:cs typeface="Consolas" pitchFamily="34" charset="-120"/>
              </a:rPr>
              <a:t>品質確認を依頼されたときに使う。バグ、可読性、テスト不足、</a:t>
            </a:r>
            <a:endParaRPr lang="en-US" sz="1000" dirty="0"/>
          </a:p>
          <a:p>
            <a:pPr indent="0" marL="0">
              <a:buNone/>
            </a:pPr>
            <a:r>
              <a:rPr lang="en-US" sz="1000" dirty="0">
                <a:solidFill>
                  <a:srgbClr val="16A34A"/>
                </a:solidFill>
                <a:latin typeface="Consolas" pitchFamily="34" charset="0"/>
                <a:ea typeface="Consolas" pitchFamily="34" charset="-122"/>
                <a:cs typeface="Consolas" pitchFamily="34" charset="-120"/>
              </a:rPr>
              <a:t>リスクの高い変更を重点的に確認する。</a:t>
            </a:r>
            <a:endParaRPr lang="en-US" sz="1000" dirty="0"/>
          </a:p>
        </p:txBody>
      </p:sp>
      <p:sp>
        <p:nvSpPr>
          <p:cNvPr id="17" name="Text 15"/>
          <p:cNvSpPr/>
          <p:nvPr/>
        </p:nvSpPr>
        <p:spPr>
          <a:xfrm>
            <a:off x="640080" y="3794760"/>
            <a:ext cx="768096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ポイント：「コードレビュー」「PRレビュー」「差分レビュー」「品質確認」など、ユーザーが実際に使いそうな言い回しを複数列挙。Agent がどの表現でも関連性を判断できるようになる。</a:t>
            </a:r>
            <a:endParaRPr lang="en-US" sz="1000" dirty="0"/>
          </a:p>
        </p:txBody>
      </p:sp>
      <p:sp>
        <p:nvSpPr>
          <p:cNvPr id="18" name="Shape 16"/>
          <p:cNvSpPr/>
          <p:nvPr/>
        </p:nvSpPr>
        <p:spPr>
          <a:xfrm>
            <a:off x="457200" y="4572000"/>
            <a:ext cx="8229600" cy="36576"/>
          </a:xfrm>
          <a:prstGeom prst="rect">
            <a:avLst/>
          </a:prstGeom>
          <a:solidFill>
            <a:srgbClr val="1A2744"/>
          </a:solidFill>
          <a:ln/>
        </p:spPr>
      </p:sp>
      <p:sp>
        <p:nvSpPr>
          <p:cNvPr id="19" name="Text 17"/>
          <p:cNvSpPr/>
          <p:nvPr/>
        </p:nvSpPr>
        <p:spPr>
          <a:xfrm>
            <a:off x="457200" y="4663440"/>
            <a:ext cx="8229600" cy="320040"/>
          </a:xfrm>
          <a:prstGeom prst="rect">
            <a:avLst/>
          </a:prstGeom>
          <a:noFill/>
          <a:ln/>
        </p:spPr>
        <p:txBody>
          <a:bodyPr wrap="square" lIns="0" tIns="0" rIns="0" bIns="0" rtlCol="0" anchor="ctr"/>
          <a:lstStyle/>
          <a:p>
            <a:pPr indent="0" marL="0">
              <a:buNone/>
            </a:pPr>
            <a:r>
              <a:rPr lang="en-US" sz="1000" b="1" dirty="0">
                <a:solidFill>
                  <a:srgbClr val="1A2744"/>
                </a:solidFill>
                <a:latin typeface="Calibri" pitchFamily="34" charset="0"/>
                <a:ea typeface="Calibri" pitchFamily="34" charset="-122"/>
                <a:cs typeface="Calibri" pitchFamily="34" charset="-120"/>
              </a:rPr>
              <a:t>ヒント：description は日本語で書いてOK。name だけ英字に保てば安定します。1〜1024文字の範囲で、できるだけ具体的に。</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09</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よくある失敗と注意点</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Shape 5"/>
          <p:cNvSpPr/>
          <p:nvPr/>
        </p:nvSpPr>
        <p:spPr>
          <a:xfrm>
            <a:off x="457200" y="822960"/>
            <a:ext cx="8229600" cy="274320"/>
          </a:xfrm>
          <a:prstGeom prst="rect">
            <a:avLst/>
          </a:prstGeom>
          <a:solidFill>
            <a:srgbClr val="1A2744"/>
          </a:solidFill>
          <a:ln/>
        </p:spPr>
      </p:sp>
      <p:sp>
        <p:nvSpPr>
          <p:cNvPr id="8" name="Text 6"/>
          <p:cNvSpPr/>
          <p:nvPr/>
        </p:nvSpPr>
        <p:spPr>
          <a:xfrm>
            <a:off x="594360" y="822960"/>
            <a:ext cx="7955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構成の失敗</a:t>
            </a:r>
            <a:endParaRPr lang="en-US" sz="1100" dirty="0"/>
          </a:p>
        </p:txBody>
      </p:sp>
      <p:sp>
        <p:nvSpPr>
          <p:cNvPr id="9" name="Shape 7"/>
          <p:cNvSpPr/>
          <p:nvPr/>
        </p:nvSpPr>
        <p:spPr>
          <a:xfrm>
            <a:off x="457200" y="1143000"/>
            <a:ext cx="8229600" cy="411480"/>
          </a:xfrm>
          <a:prstGeom prst="rect">
            <a:avLst/>
          </a:prstGeom>
          <a:solidFill>
            <a:srgbClr val="F5F7FA"/>
          </a:solidFill>
          <a:ln w="3810">
            <a:solidFill>
              <a:srgbClr val="E2E8F0"/>
            </a:solidFill>
            <a:prstDash val="solid"/>
          </a:ln>
        </p:spPr>
      </p:sp>
      <p:sp>
        <p:nvSpPr>
          <p:cNvPr id="10" name="Shape 8"/>
          <p:cNvSpPr/>
          <p:nvPr/>
        </p:nvSpPr>
        <p:spPr>
          <a:xfrm>
            <a:off x="457200" y="1143000"/>
            <a:ext cx="45720" cy="411480"/>
          </a:xfrm>
          <a:prstGeom prst="rect">
            <a:avLst/>
          </a:prstGeom>
          <a:solidFill>
            <a:srgbClr val="DC2626"/>
          </a:solidFill>
          <a:ln/>
        </p:spPr>
      </p:sp>
      <p:sp>
        <p:nvSpPr>
          <p:cNvPr id="11" name="Text 9"/>
          <p:cNvSpPr/>
          <p:nvPr/>
        </p:nvSpPr>
        <p:spPr>
          <a:xfrm>
            <a:off x="640080" y="1143000"/>
            <a:ext cx="2743200" cy="41148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SKILL.md に全部詰め込む</a:t>
            </a:r>
            <a:endParaRPr lang="en-US" sz="1000" dirty="0"/>
          </a:p>
        </p:txBody>
      </p:sp>
      <p:sp>
        <p:nvSpPr>
          <p:cNvPr id="12" name="Text 10"/>
          <p:cNvSpPr/>
          <p:nvPr/>
        </p:nvSpPr>
        <p:spPr>
          <a:xfrm>
            <a:off x="3474720" y="1143000"/>
            <a:ext cx="502920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長くなりすぎてメンテしづらい。詳細は references/ に逃がすのが基本。</a:t>
            </a:r>
            <a:endParaRPr lang="en-US" sz="900" dirty="0"/>
          </a:p>
        </p:txBody>
      </p:sp>
      <p:sp>
        <p:nvSpPr>
          <p:cNvPr id="13" name="Shape 11"/>
          <p:cNvSpPr/>
          <p:nvPr/>
        </p:nvSpPr>
        <p:spPr>
          <a:xfrm>
            <a:off x="457200" y="1572768"/>
            <a:ext cx="8229600" cy="411480"/>
          </a:xfrm>
          <a:prstGeom prst="rect">
            <a:avLst/>
          </a:prstGeom>
          <a:solidFill>
            <a:srgbClr val="F5F7FA"/>
          </a:solidFill>
          <a:ln w="3810">
            <a:solidFill>
              <a:srgbClr val="E2E8F0"/>
            </a:solidFill>
            <a:prstDash val="solid"/>
          </a:ln>
        </p:spPr>
      </p:sp>
      <p:sp>
        <p:nvSpPr>
          <p:cNvPr id="14" name="Shape 12"/>
          <p:cNvSpPr/>
          <p:nvPr/>
        </p:nvSpPr>
        <p:spPr>
          <a:xfrm>
            <a:off x="457200" y="1572768"/>
            <a:ext cx="45720" cy="411480"/>
          </a:xfrm>
          <a:prstGeom prst="rect">
            <a:avLst/>
          </a:prstGeom>
          <a:solidFill>
            <a:srgbClr val="DC2626"/>
          </a:solidFill>
          <a:ln/>
        </p:spPr>
      </p:sp>
      <p:sp>
        <p:nvSpPr>
          <p:cNvPr id="15" name="Text 13"/>
          <p:cNvSpPr/>
          <p:nvPr/>
        </p:nvSpPr>
        <p:spPr>
          <a:xfrm>
            <a:off x="640080" y="1572768"/>
            <a:ext cx="2743200" cy="41148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scripts/ を置いたのに SKILL.md で触れていない</a:t>
            </a:r>
            <a:endParaRPr lang="en-US" sz="1000" dirty="0"/>
          </a:p>
        </p:txBody>
      </p:sp>
      <p:sp>
        <p:nvSpPr>
          <p:cNvPr id="16" name="Text 14"/>
          <p:cNvSpPr/>
          <p:nvPr/>
        </p:nvSpPr>
        <p:spPr>
          <a:xfrm>
            <a:off x="3474720" y="1572768"/>
            <a:ext cx="502920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Agent がスクリプトの使いどころを理解できない。「いつ実行するか」を SKILL.md に明記する。</a:t>
            </a:r>
            <a:endParaRPr lang="en-US" sz="900" dirty="0"/>
          </a:p>
        </p:txBody>
      </p:sp>
      <p:sp>
        <p:nvSpPr>
          <p:cNvPr id="17" name="Shape 15"/>
          <p:cNvSpPr/>
          <p:nvPr/>
        </p:nvSpPr>
        <p:spPr>
          <a:xfrm>
            <a:off x="457200" y="2002536"/>
            <a:ext cx="8229600" cy="411480"/>
          </a:xfrm>
          <a:prstGeom prst="rect">
            <a:avLst/>
          </a:prstGeom>
          <a:solidFill>
            <a:srgbClr val="F5F7FA"/>
          </a:solidFill>
          <a:ln w="3810">
            <a:solidFill>
              <a:srgbClr val="E2E8F0"/>
            </a:solidFill>
            <a:prstDash val="solid"/>
          </a:ln>
        </p:spPr>
      </p:sp>
      <p:sp>
        <p:nvSpPr>
          <p:cNvPr id="18" name="Shape 16"/>
          <p:cNvSpPr/>
          <p:nvPr/>
        </p:nvSpPr>
        <p:spPr>
          <a:xfrm>
            <a:off x="457200" y="2002536"/>
            <a:ext cx="45720" cy="411480"/>
          </a:xfrm>
          <a:prstGeom prst="rect">
            <a:avLst/>
          </a:prstGeom>
          <a:solidFill>
            <a:srgbClr val="DC2626"/>
          </a:solidFill>
          <a:ln/>
        </p:spPr>
      </p:sp>
      <p:sp>
        <p:nvSpPr>
          <p:cNvPr id="19" name="Text 17"/>
          <p:cNvSpPr/>
          <p:nvPr/>
        </p:nvSpPr>
        <p:spPr>
          <a:xfrm>
            <a:off x="640080" y="2002536"/>
            <a:ext cx="2743200" cy="41148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reference を増やしすぎて参照が深くなる</a:t>
            </a:r>
            <a:endParaRPr lang="en-US" sz="1000" dirty="0"/>
          </a:p>
        </p:txBody>
      </p:sp>
      <p:sp>
        <p:nvSpPr>
          <p:cNvPr id="20" name="Text 18"/>
          <p:cNvSpPr/>
          <p:nvPr/>
        </p:nvSpPr>
        <p:spPr>
          <a:xfrm>
            <a:off x="3474720" y="2002536"/>
            <a:ext cx="502920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相対パス参照はシンプルに保つ。深い参照チェーンは仕様上も非推奨。</a:t>
            </a:r>
            <a:endParaRPr lang="en-US" sz="900" dirty="0"/>
          </a:p>
        </p:txBody>
      </p:sp>
      <p:sp>
        <p:nvSpPr>
          <p:cNvPr id="21" name="Shape 19"/>
          <p:cNvSpPr/>
          <p:nvPr/>
        </p:nvSpPr>
        <p:spPr>
          <a:xfrm>
            <a:off x="457200" y="2505456"/>
            <a:ext cx="8229600" cy="274320"/>
          </a:xfrm>
          <a:prstGeom prst="rect">
            <a:avLst/>
          </a:prstGeom>
          <a:solidFill>
            <a:srgbClr val="1A2744"/>
          </a:solidFill>
          <a:ln/>
        </p:spPr>
      </p:sp>
      <p:sp>
        <p:nvSpPr>
          <p:cNvPr id="22" name="Text 20"/>
          <p:cNvSpPr/>
          <p:nvPr/>
        </p:nvSpPr>
        <p:spPr>
          <a:xfrm>
            <a:off x="594360" y="2505456"/>
            <a:ext cx="7955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名前・設定の失敗</a:t>
            </a:r>
            <a:endParaRPr lang="en-US" sz="1100" dirty="0"/>
          </a:p>
        </p:txBody>
      </p:sp>
      <p:sp>
        <p:nvSpPr>
          <p:cNvPr id="23" name="Shape 21"/>
          <p:cNvSpPr/>
          <p:nvPr/>
        </p:nvSpPr>
        <p:spPr>
          <a:xfrm>
            <a:off x="457200" y="2825496"/>
            <a:ext cx="8229600" cy="411480"/>
          </a:xfrm>
          <a:prstGeom prst="rect">
            <a:avLst/>
          </a:prstGeom>
          <a:solidFill>
            <a:srgbClr val="F5F7FA"/>
          </a:solidFill>
          <a:ln w="3810">
            <a:solidFill>
              <a:srgbClr val="E2E8F0"/>
            </a:solidFill>
            <a:prstDash val="solid"/>
          </a:ln>
        </p:spPr>
      </p:sp>
      <p:sp>
        <p:nvSpPr>
          <p:cNvPr id="24" name="Shape 22"/>
          <p:cNvSpPr/>
          <p:nvPr/>
        </p:nvSpPr>
        <p:spPr>
          <a:xfrm>
            <a:off x="457200" y="2825496"/>
            <a:ext cx="45720" cy="411480"/>
          </a:xfrm>
          <a:prstGeom prst="rect">
            <a:avLst/>
          </a:prstGeom>
          <a:solidFill>
            <a:srgbClr val="DC2626"/>
          </a:solidFill>
          <a:ln/>
        </p:spPr>
      </p:sp>
      <p:sp>
        <p:nvSpPr>
          <p:cNvPr id="25" name="Text 23"/>
          <p:cNvSpPr/>
          <p:nvPr/>
        </p:nvSpPr>
        <p:spPr>
          <a:xfrm>
            <a:off x="640080" y="2825496"/>
            <a:ext cx="2743200" cy="41148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name とフォルダ名が一致していない</a:t>
            </a:r>
            <a:endParaRPr lang="en-US" sz="1000" dirty="0"/>
          </a:p>
        </p:txBody>
      </p:sp>
      <p:sp>
        <p:nvSpPr>
          <p:cNvPr id="26" name="Text 24"/>
          <p:cNvSpPr/>
          <p:nvPr/>
        </p:nvSpPr>
        <p:spPr>
          <a:xfrm>
            <a:off x="3474720" y="2825496"/>
            <a:ext cx="502920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発火しない最大原因の1つ。完全一致が必須。</a:t>
            </a:r>
            <a:endParaRPr lang="en-US" sz="900" dirty="0"/>
          </a:p>
        </p:txBody>
      </p:sp>
      <p:sp>
        <p:nvSpPr>
          <p:cNvPr id="27" name="Shape 25"/>
          <p:cNvSpPr/>
          <p:nvPr/>
        </p:nvSpPr>
        <p:spPr>
          <a:xfrm>
            <a:off x="457200" y="3255264"/>
            <a:ext cx="8229600" cy="411480"/>
          </a:xfrm>
          <a:prstGeom prst="rect">
            <a:avLst/>
          </a:prstGeom>
          <a:solidFill>
            <a:srgbClr val="F5F7FA"/>
          </a:solidFill>
          <a:ln w="3810">
            <a:solidFill>
              <a:srgbClr val="E2E8F0"/>
            </a:solidFill>
            <a:prstDash val="solid"/>
          </a:ln>
        </p:spPr>
      </p:sp>
      <p:sp>
        <p:nvSpPr>
          <p:cNvPr id="28" name="Shape 26"/>
          <p:cNvSpPr/>
          <p:nvPr/>
        </p:nvSpPr>
        <p:spPr>
          <a:xfrm>
            <a:off x="457200" y="3255264"/>
            <a:ext cx="45720" cy="411480"/>
          </a:xfrm>
          <a:prstGeom prst="rect">
            <a:avLst/>
          </a:prstGeom>
          <a:solidFill>
            <a:srgbClr val="DC2626"/>
          </a:solidFill>
          <a:ln/>
        </p:spPr>
      </p:sp>
      <p:sp>
        <p:nvSpPr>
          <p:cNvPr id="29" name="Text 27"/>
          <p:cNvSpPr/>
          <p:nvPr/>
        </p:nvSpPr>
        <p:spPr>
          <a:xfrm>
            <a:off x="640080" y="3255264"/>
            <a:ext cx="2743200" cy="41148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description が弱すぎる</a:t>
            </a:r>
            <a:endParaRPr lang="en-US" sz="1000" dirty="0"/>
          </a:p>
        </p:txBody>
      </p:sp>
      <p:sp>
        <p:nvSpPr>
          <p:cNvPr id="30" name="Text 28"/>
          <p:cNvSpPr/>
          <p:nvPr/>
        </p:nvSpPr>
        <p:spPr>
          <a:xfrm>
            <a:off x="3474720" y="3255264"/>
            <a:ext cx="502920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「何をするか」しか書いていないと Agent が関連性を判断できず自動発火しない。</a:t>
            </a:r>
            <a:endParaRPr lang="en-US" sz="900" dirty="0"/>
          </a:p>
        </p:txBody>
      </p:sp>
      <p:sp>
        <p:nvSpPr>
          <p:cNvPr id="31" name="Shape 29"/>
          <p:cNvSpPr/>
          <p:nvPr/>
        </p:nvSpPr>
        <p:spPr>
          <a:xfrm>
            <a:off x="457200" y="3758184"/>
            <a:ext cx="8229600" cy="274320"/>
          </a:xfrm>
          <a:prstGeom prst="rect">
            <a:avLst/>
          </a:prstGeom>
          <a:solidFill>
            <a:srgbClr val="1A2744"/>
          </a:solidFill>
          <a:ln/>
        </p:spPr>
      </p:sp>
      <p:sp>
        <p:nvSpPr>
          <p:cNvPr id="32" name="Text 30"/>
          <p:cNvSpPr/>
          <p:nvPr/>
        </p:nvSpPr>
        <p:spPr>
          <a:xfrm>
            <a:off x="594360" y="3758184"/>
            <a:ext cx="7955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Cursor 環境の注意点</a:t>
            </a:r>
            <a:endParaRPr lang="en-US" sz="1100" dirty="0"/>
          </a:p>
        </p:txBody>
      </p:sp>
      <p:sp>
        <p:nvSpPr>
          <p:cNvPr id="33" name="Shape 31"/>
          <p:cNvSpPr/>
          <p:nvPr/>
        </p:nvSpPr>
        <p:spPr>
          <a:xfrm>
            <a:off x="457200" y="4078224"/>
            <a:ext cx="8229600" cy="411480"/>
          </a:xfrm>
          <a:prstGeom prst="rect">
            <a:avLst/>
          </a:prstGeom>
          <a:solidFill>
            <a:srgbClr val="F5F7FA"/>
          </a:solidFill>
          <a:ln w="3810">
            <a:solidFill>
              <a:srgbClr val="E2E8F0"/>
            </a:solidFill>
            <a:prstDash val="solid"/>
          </a:ln>
        </p:spPr>
      </p:sp>
      <p:sp>
        <p:nvSpPr>
          <p:cNvPr id="34" name="Shape 32"/>
          <p:cNvSpPr/>
          <p:nvPr/>
        </p:nvSpPr>
        <p:spPr>
          <a:xfrm>
            <a:off x="457200" y="4078224"/>
            <a:ext cx="45720" cy="411480"/>
          </a:xfrm>
          <a:prstGeom prst="rect">
            <a:avLst/>
          </a:prstGeom>
          <a:solidFill>
            <a:srgbClr val="DC2626"/>
          </a:solidFill>
          <a:ln/>
        </p:spPr>
      </p:sp>
      <p:sp>
        <p:nvSpPr>
          <p:cNvPr id="35" name="Text 33"/>
          <p:cNvSpPr/>
          <p:nvPr/>
        </p:nvSpPr>
        <p:spPr>
          <a:xfrm>
            <a:off x="640080" y="4078224"/>
            <a:ext cx="2743200" cy="41148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Nightly 前提の揺れ</a:t>
            </a:r>
            <a:endParaRPr lang="en-US" sz="1000" dirty="0"/>
          </a:p>
        </p:txBody>
      </p:sp>
      <p:sp>
        <p:nvSpPr>
          <p:cNvPr id="36" name="Text 34"/>
          <p:cNvSpPr/>
          <p:nvPr/>
        </p:nvSpPr>
        <p:spPr>
          <a:xfrm>
            <a:off x="3474720" y="4078224"/>
            <a:ext cx="502920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Stable で Skills が Rules に見える、表示が出ないなどの報告あり。不具合寄りの話。</a:t>
            </a:r>
            <a:endParaRPr lang="en-US" sz="900" dirty="0"/>
          </a:p>
        </p:txBody>
      </p:sp>
      <p:sp>
        <p:nvSpPr>
          <p:cNvPr id="37" name="Shape 35"/>
          <p:cNvSpPr/>
          <p:nvPr/>
        </p:nvSpPr>
        <p:spPr>
          <a:xfrm>
            <a:off x="457200" y="4507992"/>
            <a:ext cx="8229600" cy="411480"/>
          </a:xfrm>
          <a:prstGeom prst="rect">
            <a:avLst/>
          </a:prstGeom>
          <a:solidFill>
            <a:srgbClr val="F5F7FA"/>
          </a:solidFill>
          <a:ln w="3810">
            <a:solidFill>
              <a:srgbClr val="E2E8F0"/>
            </a:solidFill>
            <a:prstDash val="solid"/>
          </a:ln>
        </p:spPr>
      </p:sp>
      <p:sp>
        <p:nvSpPr>
          <p:cNvPr id="38" name="Shape 36"/>
          <p:cNvSpPr/>
          <p:nvPr/>
        </p:nvSpPr>
        <p:spPr>
          <a:xfrm>
            <a:off x="457200" y="4507992"/>
            <a:ext cx="45720" cy="411480"/>
          </a:xfrm>
          <a:prstGeom prst="rect">
            <a:avLst/>
          </a:prstGeom>
          <a:solidFill>
            <a:srgbClr val="DC2626"/>
          </a:solidFill>
          <a:ln/>
        </p:spPr>
      </p:sp>
      <p:sp>
        <p:nvSpPr>
          <p:cNvPr id="39" name="Text 37"/>
          <p:cNvSpPr/>
          <p:nvPr/>
        </p:nvSpPr>
        <p:spPr>
          <a:xfrm>
            <a:off x="640080" y="4507992"/>
            <a:ext cx="2743200" cy="41148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slash で出ないことがある</a:t>
            </a:r>
            <a:endParaRPr lang="en-US" sz="1000" dirty="0"/>
          </a:p>
        </p:txBody>
      </p:sp>
      <p:sp>
        <p:nvSpPr>
          <p:cNvPr id="40" name="Text 38"/>
          <p:cNvSpPr/>
          <p:nvPr/>
        </p:nvSpPr>
        <p:spPr>
          <a:xfrm>
            <a:off x="3474720" y="4507992"/>
            <a:ext cx="502920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/skill-name で手動起動できない不具合報告あり。Settings で見えるなら自分のミスとは限らない。</a:t>
            </a:r>
            <a:endParaRPr lang="en-US" sz="900" dirty="0"/>
          </a:p>
        </p:txBody>
      </p:sp>
      <p:sp>
        <p:nvSpPr>
          <p:cNvPr id="41" name="Shape 39"/>
          <p:cNvSpPr/>
          <p:nvPr/>
        </p:nvSpPr>
        <p:spPr>
          <a:xfrm>
            <a:off x="457200" y="4937760"/>
            <a:ext cx="8229600" cy="411480"/>
          </a:xfrm>
          <a:prstGeom prst="rect">
            <a:avLst/>
          </a:prstGeom>
          <a:solidFill>
            <a:srgbClr val="F5F7FA"/>
          </a:solidFill>
          <a:ln w="3810">
            <a:solidFill>
              <a:srgbClr val="E2E8F0"/>
            </a:solidFill>
            <a:prstDash val="solid"/>
          </a:ln>
        </p:spPr>
      </p:sp>
      <p:sp>
        <p:nvSpPr>
          <p:cNvPr id="42" name="Shape 40"/>
          <p:cNvSpPr/>
          <p:nvPr/>
        </p:nvSpPr>
        <p:spPr>
          <a:xfrm>
            <a:off x="457200" y="4937760"/>
            <a:ext cx="45720" cy="411480"/>
          </a:xfrm>
          <a:prstGeom prst="rect">
            <a:avLst/>
          </a:prstGeom>
          <a:solidFill>
            <a:srgbClr val="DC2626"/>
          </a:solidFill>
          <a:ln/>
        </p:spPr>
      </p:sp>
      <p:sp>
        <p:nvSpPr>
          <p:cNvPr id="43" name="Text 41"/>
          <p:cNvSpPr/>
          <p:nvPr/>
        </p:nvSpPr>
        <p:spPr>
          <a:xfrm>
            <a:off x="640080" y="4937760"/>
            <a:ext cx="2743200" cy="41148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Rules の代替ではない</a:t>
            </a:r>
            <a:endParaRPr lang="en-US" sz="1000" dirty="0"/>
          </a:p>
        </p:txBody>
      </p:sp>
      <p:sp>
        <p:nvSpPr>
          <p:cNvPr id="44" name="Text 42"/>
          <p:cNvSpPr/>
          <p:nvPr/>
        </p:nvSpPr>
        <p:spPr>
          <a:xfrm>
            <a:off x="3474720" y="4937760"/>
            <a:ext cx="502920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Rules と Skills は共存。コーディング規約は Rules、作業手順は Skills と使い分ける。</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Shape 1"/>
          <p:cNvSpPr/>
          <p:nvPr/>
        </p:nvSpPr>
        <p:spPr>
          <a:xfrm>
            <a:off x="0" y="0"/>
            <a:ext cx="73152" cy="5143500"/>
          </a:xfrm>
          <a:prstGeom prst="rect">
            <a:avLst/>
          </a:prstGeom>
          <a:solidFill>
            <a:srgbClr val="1A2744"/>
          </a:solidFill>
          <a:ln/>
        </p:spPr>
      </p:sp>
      <p:sp>
        <p:nvSpPr>
          <p:cNvPr id="4" name="Text 2"/>
          <p:cNvSpPr/>
          <p:nvPr/>
        </p:nvSpPr>
        <p:spPr>
          <a:xfrm>
            <a:off x="274320" y="182880"/>
            <a:ext cx="548640" cy="457200"/>
          </a:xfrm>
          <a:prstGeom prst="rect">
            <a:avLst/>
          </a:prstGeom>
          <a:noFill/>
          <a:ln/>
        </p:spPr>
        <p:txBody>
          <a:bodyPr wrap="square" lIns="0" tIns="0" rIns="0" bIns="0" rtlCol="0" anchor="ctr"/>
          <a:lstStyle/>
          <a:p>
            <a:pPr indent="0" marL="0">
              <a:buNone/>
            </a:pPr>
            <a:r>
              <a:rPr lang="en-US" sz="2800" b="1" dirty="0">
                <a:solidFill>
                  <a:srgbClr val="E8913A"/>
                </a:solidFill>
                <a:latin typeface="Georgia" pitchFamily="34" charset="0"/>
                <a:ea typeface="Georgia" pitchFamily="34" charset="-122"/>
                <a:cs typeface="Georgia" pitchFamily="34" charset="-120"/>
              </a:rPr>
              <a:t>10</a:t>
            </a:r>
            <a:endParaRPr lang="en-US" sz="2800" dirty="0"/>
          </a:p>
        </p:txBody>
      </p:sp>
      <p:sp>
        <p:nvSpPr>
          <p:cNvPr id="5" name="Text 3"/>
          <p:cNvSpPr/>
          <p:nvPr/>
        </p:nvSpPr>
        <p:spPr>
          <a:xfrm>
            <a:off x="822960" y="182880"/>
            <a:ext cx="7772400" cy="457200"/>
          </a:xfrm>
          <a:prstGeom prst="rect">
            <a:avLst/>
          </a:prstGeom>
          <a:noFill/>
          <a:ln/>
        </p:spPr>
        <p:txBody>
          <a:bodyPr wrap="square" lIns="0" tIns="0" rIns="0" bIns="0" rtlCol="0" anchor="ctr"/>
          <a:lstStyle/>
          <a:p>
            <a:pPr indent="0" marL="0">
              <a:buNone/>
            </a:pPr>
            <a:r>
              <a:rPr lang="en-US" sz="2800" b="1" dirty="0">
                <a:solidFill>
                  <a:srgbClr val="1A2744"/>
                </a:solidFill>
                <a:latin typeface="Georgia" pitchFamily="34" charset="0"/>
                <a:ea typeface="Georgia" pitchFamily="34" charset="-122"/>
                <a:cs typeface="Georgia" pitchFamily="34" charset="-120"/>
              </a:rPr>
              <a:t>段階的な育て方ロードマップ</a:t>
            </a:r>
            <a:endParaRPr lang="en-US" sz="2800" dirty="0"/>
          </a:p>
        </p:txBody>
      </p:sp>
      <p:sp>
        <p:nvSpPr>
          <p:cNvPr id="6" name="Shape 4"/>
          <p:cNvSpPr/>
          <p:nvPr/>
        </p:nvSpPr>
        <p:spPr>
          <a:xfrm>
            <a:off x="822960" y="685800"/>
            <a:ext cx="1371600" cy="32004"/>
          </a:xfrm>
          <a:prstGeom prst="rect">
            <a:avLst/>
          </a:prstGeom>
          <a:solidFill>
            <a:srgbClr val="E8913A"/>
          </a:solidFill>
          <a:ln/>
        </p:spPr>
      </p:sp>
      <p:sp>
        <p:nvSpPr>
          <p:cNvPr id="7" name="Text 5"/>
          <p:cNvSpPr/>
          <p:nvPr/>
        </p:nvSpPr>
        <p:spPr>
          <a:xfrm>
            <a:off x="822960" y="822960"/>
            <a:ext cx="77724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最初から全部入れる必要はありません。段階的に育てていくのが公式推奨です。</a:t>
            </a:r>
            <a:endParaRPr lang="en-US" sz="1100" dirty="0"/>
          </a:p>
        </p:txBody>
      </p:sp>
      <p:sp>
        <p:nvSpPr>
          <p:cNvPr id="8" name="Shape 6"/>
          <p:cNvSpPr/>
          <p:nvPr/>
        </p:nvSpPr>
        <p:spPr>
          <a:xfrm>
            <a:off x="1097280" y="1645920"/>
            <a:ext cx="36576" cy="594360"/>
          </a:xfrm>
          <a:prstGeom prst="rect">
            <a:avLst/>
          </a:prstGeom>
          <a:solidFill>
            <a:srgbClr val="E2E8F0"/>
          </a:solidFill>
          <a:ln/>
        </p:spPr>
      </p:sp>
      <p:sp>
        <p:nvSpPr>
          <p:cNvPr id="9" name="Shape 7"/>
          <p:cNvSpPr/>
          <p:nvPr/>
        </p:nvSpPr>
        <p:spPr>
          <a:xfrm>
            <a:off x="777240" y="1325880"/>
            <a:ext cx="640080" cy="640080"/>
          </a:xfrm>
          <a:prstGeom prst="ellipse">
            <a:avLst/>
          </a:prstGeom>
          <a:solidFill>
            <a:srgbClr val="3B7DD8"/>
          </a:solidFill>
          <a:ln/>
        </p:spPr>
      </p:sp>
      <p:sp>
        <p:nvSpPr>
          <p:cNvPr id="10" name="Text 8"/>
          <p:cNvSpPr/>
          <p:nvPr/>
        </p:nvSpPr>
        <p:spPr>
          <a:xfrm>
            <a:off x="777240" y="13258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1" name="Text 9"/>
          <p:cNvSpPr/>
          <p:nvPr/>
        </p:nvSpPr>
        <p:spPr>
          <a:xfrm>
            <a:off x="1645920" y="1298448"/>
            <a:ext cx="3200400" cy="27432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段階 1  SKILL.md だけ</a:t>
            </a:r>
            <a:endParaRPr lang="en-US" sz="1300" dirty="0"/>
          </a:p>
        </p:txBody>
      </p:sp>
      <p:sp>
        <p:nvSpPr>
          <p:cNvPr id="12" name="Shape 10"/>
          <p:cNvSpPr/>
          <p:nvPr/>
        </p:nvSpPr>
        <p:spPr>
          <a:xfrm>
            <a:off x="1645920" y="1600200"/>
            <a:ext cx="2926080" cy="228600"/>
          </a:xfrm>
          <a:prstGeom prst="rect">
            <a:avLst/>
          </a:prstGeom>
          <a:solidFill>
            <a:srgbClr val="EBF2FC"/>
          </a:solidFill>
          <a:ln/>
        </p:spPr>
      </p:sp>
      <p:sp>
        <p:nvSpPr>
          <p:cNvPr id="13" name="Text 11"/>
          <p:cNvSpPr/>
          <p:nvPr/>
        </p:nvSpPr>
        <p:spPr>
          <a:xfrm>
            <a:off x="1737360" y="1600200"/>
            <a:ext cx="2743200" cy="228600"/>
          </a:xfrm>
          <a:prstGeom prst="rect">
            <a:avLst/>
          </a:prstGeom>
          <a:noFill/>
          <a:ln/>
        </p:spPr>
        <p:txBody>
          <a:bodyPr wrap="square" lIns="0" tIns="0" rIns="0" bIns="0" rtlCol="0" anchor="ctr"/>
          <a:lstStyle/>
          <a:p>
            <a:pPr indent="0" marL="0">
              <a:buNone/>
            </a:pPr>
            <a:r>
              <a:rPr lang="en-US" sz="900" dirty="0">
                <a:solidFill>
                  <a:srgbClr val="3B7DD8"/>
                </a:solidFill>
                <a:latin typeface="Consolas" pitchFamily="34" charset="0"/>
                <a:ea typeface="Consolas" pitchFamily="34" charset="-122"/>
                <a:cs typeface="Consolas" pitchFamily="34" charset="-120"/>
              </a:rPr>
              <a:t>SKILL.md のみ</a:t>
            </a:r>
            <a:endParaRPr lang="en-US" sz="900" dirty="0"/>
          </a:p>
        </p:txBody>
      </p:sp>
      <p:sp>
        <p:nvSpPr>
          <p:cNvPr id="14" name="Text 12"/>
          <p:cNvSpPr/>
          <p:nvPr/>
        </p:nvSpPr>
        <p:spPr>
          <a:xfrm>
            <a:off x="4754880" y="1325880"/>
            <a:ext cx="402336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まず発火するか、レビュー観点が安定するかを確認する。最小構成で始める。</a:t>
            </a:r>
            <a:endParaRPr lang="en-US" sz="1000" dirty="0"/>
          </a:p>
        </p:txBody>
      </p:sp>
      <p:sp>
        <p:nvSpPr>
          <p:cNvPr id="15" name="Shape 13"/>
          <p:cNvSpPr/>
          <p:nvPr/>
        </p:nvSpPr>
        <p:spPr>
          <a:xfrm>
            <a:off x="1097280" y="2560320"/>
            <a:ext cx="36576" cy="594360"/>
          </a:xfrm>
          <a:prstGeom prst="rect">
            <a:avLst/>
          </a:prstGeom>
          <a:solidFill>
            <a:srgbClr val="E2E8F0"/>
          </a:solidFill>
          <a:ln/>
        </p:spPr>
      </p:sp>
      <p:sp>
        <p:nvSpPr>
          <p:cNvPr id="16" name="Shape 14"/>
          <p:cNvSpPr/>
          <p:nvPr/>
        </p:nvSpPr>
        <p:spPr>
          <a:xfrm>
            <a:off x="777240" y="2240280"/>
            <a:ext cx="640080" cy="640080"/>
          </a:xfrm>
          <a:prstGeom prst="ellipse">
            <a:avLst/>
          </a:prstGeom>
          <a:solidFill>
            <a:srgbClr val="E8913A"/>
          </a:solidFill>
          <a:ln/>
        </p:spPr>
      </p:sp>
      <p:sp>
        <p:nvSpPr>
          <p:cNvPr id="17" name="Text 15"/>
          <p:cNvSpPr/>
          <p:nvPr/>
        </p:nvSpPr>
        <p:spPr>
          <a:xfrm>
            <a:off x="777240" y="22402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8" name="Text 16"/>
          <p:cNvSpPr/>
          <p:nvPr/>
        </p:nvSpPr>
        <p:spPr>
          <a:xfrm>
            <a:off x="1645920" y="2212848"/>
            <a:ext cx="3200400" cy="27432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段階 2  references/ を追加</a:t>
            </a:r>
            <a:endParaRPr lang="en-US" sz="1300" dirty="0"/>
          </a:p>
        </p:txBody>
      </p:sp>
      <p:sp>
        <p:nvSpPr>
          <p:cNvPr id="19" name="Shape 17"/>
          <p:cNvSpPr/>
          <p:nvPr/>
        </p:nvSpPr>
        <p:spPr>
          <a:xfrm>
            <a:off x="1645920" y="2514600"/>
            <a:ext cx="2926080" cy="228600"/>
          </a:xfrm>
          <a:prstGeom prst="rect">
            <a:avLst/>
          </a:prstGeom>
          <a:solidFill>
            <a:srgbClr val="EBF2FC"/>
          </a:solidFill>
          <a:ln/>
        </p:spPr>
      </p:sp>
      <p:sp>
        <p:nvSpPr>
          <p:cNvPr id="20" name="Text 18"/>
          <p:cNvSpPr/>
          <p:nvPr/>
        </p:nvSpPr>
        <p:spPr>
          <a:xfrm>
            <a:off x="1737360" y="2514600"/>
            <a:ext cx="2743200" cy="228600"/>
          </a:xfrm>
          <a:prstGeom prst="rect">
            <a:avLst/>
          </a:prstGeom>
          <a:noFill/>
          <a:ln/>
        </p:spPr>
        <p:txBody>
          <a:bodyPr wrap="square" lIns="0" tIns="0" rIns="0" bIns="0" rtlCol="0" anchor="ctr"/>
          <a:lstStyle/>
          <a:p>
            <a:pPr indent="0" marL="0">
              <a:buNone/>
            </a:pPr>
            <a:r>
              <a:rPr lang="en-US" sz="900" dirty="0">
                <a:solidFill>
                  <a:srgbClr val="3B7DD8"/>
                </a:solidFill>
                <a:latin typeface="Consolas" pitchFamily="34" charset="0"/>
                <a:ea typeface="Consolas" pitchFamily="34" charset="-122"/>
                <a:cs typeface="Consolas" pitchFamily="34" charset="-120"/>
              </a:rPr>
              <a:t>+ references/review-checklist.md</a:t>
            </a:r>
            <a:endParaRPr lang="en-US" sz="900" dirty="0"/>
          </a:p>
        </p:txBody>
      </p:sp>
      <p:sp>
        <p:nvSpPr>
          <p:cNvPr id="21" name="Text 19"/>
          <p:cNvSpPr/>
          <p:nvPr/>
        </p:nvSpPr>
        <p:spPr>
          <a:xfrm>
            <a:off x="4754880" y="2240280"/>
            <a:ext cx="402336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SKILL.md が長くなりすぎる前に判断基準を外出し。チェックリストで観点を安定させる。</a:t>
            </a:r>
            <a:endParaRPr lang="en-US" sz="1000" dirty="0"/>
          </a:p>
        </p:txBody>
      </p:sp>
      <p:sp>
        <p:nvSpPr>
          <p:cNvPr id="22" name="Shape 20"/>
          <p:cNvSpPr/>
          <p:nvPr/>
        </p:nvSpPr>
        <p:spPr>
          <a:xfrm>
            <a:off x="1097280" y="3474720"/>
            <a:ext cx="36576" cy="594360"/>
          </a:xfrm>
          <a:prstGeom prst="rect">
            <a:avLst/>
          </a:prstGeom>
          <a:solidFill>
            <a:srgbClr val="E2E8F0"/>
          </a:solidFill>
          <a:ln/>
        </p:spPr>
      </p:sp>
      <p:sp>
        <p:nvSpPr>
          <p:cNvPr id="23" name="Shape 21"/>
          <p:cNvSpPr/>
          <p:nvPr/>
        </p:nvSpPr>
        <p:spPr>
          <a:xfrm>
            <a:off x="777240" y="3154680"/>
            <a:ext cx="640080" cy="640080"/>
          </a:xfrm>
          <a:prstGeom prst="ellipse">
            <a:avLst/>
          </a:prstGeom>
          <a:solidFill>
            <a:srgbClr val="16A34A"/>
          </a:solidFill>
          <a:ln/>
        </p:spPr>
      </p:sp>
      <p:sp>
        <p:nvSpPr>
          <p:cNvPr id="24" name="Text 22"/>
          <p:cNvSpPr/>
          <p:nvPr/>
        </p:nvSpPr>
        <p:spPr>
          <a:xfrm>
            <a:off x="777240" y="3154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5" name="Text 23"/>
          <p:cNvSpPr/>
          <p:nvPr/>
        </p:nvSpPr>
        <p:spPr>
          <a:xfrm>
            <a:off x="1645920" y="3127248"/>
            <a:ext cx="3200400" cy="27432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段階 3  scripts/ を追加</a:t>
            </a:r>
            <a:endParaRPr lang="en-US" sz="1300" dirty="0"/>
          </a:p>
        </p:txBody>
      </p:sp>
      <p:sp>
        <p:nvSpPr>
          <p:cNvPr id="26" name="Shape 24"/>
          <p:cNvSpPr/>
          <p:nvPr/>
        </p:nvSpPr>
        <p:spPr>
          <a:xfrm>
            <a:off x="1645920" y="3429000"/>
            <a:ext cx="2926080" cy="228600"/>
          </a:xfrm>
          <a:prstGeom prst="rect">
            <a:avLst/>
          </a:prstGeom>
          <a:solidFill>
            <a:srgbClr val="EBF2FC"/>
          </a:solidFill>
          <a:ln/>
        </p:spPr>
      </p:sp>
      <p:sp>
        <p:nvSpPr>
          <p:cNvPr id="27" name="Text 25"/>
          <p:cNvSpPr/>
          <p:nvPr/>
        </p:nvSpPr>
        <p:spPr>
          <a:xfrm>
            <a:off x="1737360" y="3429000"/>
            <a:ext cx="2743200" cy="228600"/>
          </a:xfrm>
          <a:prstGeom prst="rect">
            <a:avLst/>
          </a:prstGeom>
          <a:noFill/>
          <a:ln/>
        </p:spPr>
        <p:txBody>
          <a:bodyPr wrap="square" lIns="0" tIns="0" rIns="0" bIns="0" rtlCol="0" anchor="ctr"/>
          <a:lstStyle/>
          <a:p>
            <a:pPr indent="0" marL="0">
              <a:buNone/>
            </a:pPr>
            <a:r>
              <a:rPr lang="en-US" sz="900" dirty="0">
                <a:solidFill>
                  <a:srgbClr val="3B7DD8"/>
                </a:solidFill>
                <a:latin typeface="Consolas" pitchFamily="34" charset="0"/>
                <a:ea typeface="Consolas" pitchFamily="34" charset="-122"/>
                <a:cs typeface="Consolas" pitchFamily="34" charset="-120"/>
              </a:rPr>
              <a:t>+ scripts/collect_diff.sh</a:t>
            </a:r>
            <a:endParaRPr lang="en-US" sz="900" dirty="0"/>
          </a:p>
        </p:txBody>
      </p:sp>
      <p:sp>
        <p:nvSpPr>
          <p:cNvPr id="28" name="Text 26"/>
          <p:cNvSpPr/>
          <p:nvPr/>
        </p:nvSpPr>
        <p:spPr>
          <a:xfrm>
            <a:off x="4754880" y="3154680"/>
            <a:ext cx="402336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差分取得を自動化して毎回の手動コマンド入力を削減。Skills はスクリプト同梱前提で設計。</a:t>
            </a:r>
            <a:endParaRPr lang="en-US" sz="1000" dirty="0"/>
          </a:p>
        </p:txBody>
      </p:sp>
      <p:sp>
        <p:nvSpPr>
          <p:cNvPr id="29" name="Shape 27"/>
          <p:cNvSpPr/>
          <p:nvPr/>
        </p:nvSpPr>
        <p:spPr>
          <a:xfrm>
            <a:off x="777240" y="4069080"/>
            <a:ext cx="640080" cy="640080"/>
          </a:xfrm>
          <a:prstGeom prst="ellipse">
            <a:avLst/>
          </a:prstGeom>
          <a:solidFill>
            <a:srgbClr val="1A2744"/>
          </a:solidFill>
          <a:ln/>
        </p:spPr>
      </p:sp>
      <p:sp>
        <p:nvSpPr>
          <p:cNvPr id="30" name="Text 28"/>
          <p:cNvSpPr/>
          <p:nvPr/>
        </p:nvSpPr>
        <p:spPr>
          <a:xfrm>
            <a:off x="777240" y="40690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31" name="Text 29"/>
          <p:cNvSpPr/>
          <p:nvPr/>
        </p:nvSpPr>
        <p:spPr>
          <a:xfrm>
            <a:off x="1645920" y="4041648"/>
            <a:ext cx="3200400" cy="27432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段階 4  プロジェクト固有化</a:t>
            </a:r>
            <a:endParaRPr lang="en-US" sz="1300" dirty="0"/>
          </a:p>
        </p:txBody>
      </p:sp>
      <p:sp>
        <p:nvSpPr>
          <p:cNvPr id="32" name="Shape 30"/>
          <p:cNvSpPr/>
          <p:nvPr/>
        </p:nvSpPr>
        <p:spPr>
          <a:xfrm>
            <a:off x="1645920" y="4343400"/>
            <a:ext cx="2926080" cy="228600"/>
          </a:xfrm>
          <a:prstGeom prst="rect">
            <a:avLst/>
          </a:prstGeom>
          <a:solidFill>
            <a:srgbClr val="EBF2FC"/>
          </a:solidFill>
          <a:ln/>
        </p:spPr>
      </p:sp>
      <p:sp>
        <p:nvSpPr>
          <p:cNvPr id="33" name="Text 31"/>
          <p:cNvSpPr/>
          <p:nvPr/>
        </p:nvSpPr>
        <p:spPr>
          <a:xfrm>
            <a:off x="1737360" y="4343400"/>
            <a:ext cx="2743200" cy="228600"/>
          </a:xfrm>
          <a:prstGeom prst="rect">
            <a:avLst/>
          </a:prstGeom>
          <a:noFill/>
          <a:ln/>
        </p:spPr>
        <p:txBody>
          <a:bodyPr wrap="square" lIns="0" tIns="0" rIns="0" bIns="0" rtlCol="0" anchor="ctr"/>
          <a:lstStyle/>
          <a:p>
            <a:pPr indent="0" marL="0">
              <a:buNone/>
            </a:pPr>
            <a:r>
              <a:rPr lang="en-US" sz="900" dirty="0">
                <a:solidFill>
                  <a:srgbClr val="3B7DD8"/>
                </a:solidFill>
                <a:latin typeface="Consolas" pitchFamily="34" charset="0"/>
                <a:ea typeface="Consolas" pitchFamily="34" charset="-122"/>
                <a:cs typeface="Consolas" pitchFamily="34" charset="-120"/>
              </a:rPr>
              <a:t>+ references/project-rules.md</a:t>
            </a:r>
            <a:endParaRPr lang="en-US" sz="900" dirty="0"/>
          </a:p>
        </p:txBody>
      </p:sp>
      <p:sp>
        <p:nvSpPr>
          <p:cNvPr id="34" name="Text 32"/>
          <p:cNvSpPr/>
          <p:nvPr/>
        </p:nvSpPr>
        <p:spPr>
          <a:xfrm>
            <a:off x="4754880" y="4069080"/>
            <a:ext cx="4023360" cy="5943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「API handler には必ず auth check」のような固有ルールを追加。汎用 Skill から実務向け Skill へ成長。</a:t>
            </a:r>
            <a:endParaRPr lang="en-US" sz="1000" dirty="0"/>
          </a:p>
        </p:txBody>
      </p:sp>
      <p:sp>
        <p:nvSpPr>
          <p:cNvPr id="35" name="Shape 33"/>
          <p:cNvSpPr/>
          <p:nvPr/>
        </p:nvSpPr>
        <p:spPr>
          <a:xfrm>
            <a:off x="457200" y="4663440"/>
            <a:ext cx="8229600" cy="320040"/>
          </a:xfrm>
          <a:prstGeom prst="rect">
            <a:avLst/>
          </a:prstGeom>
          <a:solidFill>
            <a:srgbClr val="FFF3E6"/>
          </a:solidFill>
          <a:ln/>
        </p:spPr>
      </p:sp>
      <p:sp>
        <p:nvSpPr>
          <p:cNvPr id="36" name="Text 34"/>
          <p:cNvSpPr/>
          <p:nvPr/>
        </p:nvSpPr>
        <p:spPr>
          <a:xfrm>
            <a:off x="640080" y="4663440"/>
            <a:ext cx="7863840" cy="320040"/>
          </a:xfrm>
          <a:prstGeom prst="rect">
            <a:avLst/>
          </a:prstGeom>
          <a:noFill/>
          <a:ln/>
        </p:spPr>
        <p:txBody>
          <a:bodyPr wrap="square" lIns="0" tIns="0" rIns="0" bIns="0" rtlCol="0" anchor="ctr"/>
          <a:lstStyle/>
          <a:p>
            <a:pPr indent="0" marL="0">
              <a:buNone/>
            </a:pPr>
            <a:r>
              <a:rPr lang="en-US" sz="1100" b="1" dirty="0">
                <a:solidFill>
                  <a:srgbClr val="E8913A"/>
                </a:solidFill>
                <a:latin typeface="Calibri" pitchFamily="34" charset="0"/>
                <a:ea typeface="Calibri" pitchFamily="34" charset="-122"/>
                <a:cs typeface="Calibri" pitchFamily="34" charset="-120"/>
              </a:rPr>
              <a:t>公式推奨：「最初はシンプルに始める」「必要に応じて段階的に拡張する」</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B3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Text 1"/>
          <p:cNvSpPr/>
          <p:nvPr/>
        </p:nvSpPr>
        <p:spPr>
          <a:xfrm>
            <a:off x="457200" y="457200"/>
            <a:ext cx="822960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まとめ：迷ったらこの構成で始める</a:t>
            </a:r>
            <a:endParaRPr lang="en-US" sz="3000" dirty="0"/>
          </a:p>
        </p:txBody>
      </p:sp>
      <p:sp>
        <p:nvSpPr>
          <p:cNvPr id="4" name="Shape 2"/>
          <p:cNvSpPr/>
          <p:nvPr/>
        </p:nvSpPr>
        <p:spPr>
          <a:xfrm>
            <a:off x="2286000" y="1280160"/>
            <a:ext cx="4572000" cy="2011680"/>
          </a:xfrm>
          <a:prstGeom prst="rect">
            <a:avLst/>
          </a:prstGeom>
          <a:solidFill>
            <a:srgbClr val="2A3D66"/>
          </a:solidFill>
          <a:ln/>
        </p:spPr>
      </p:sp>
      <p:sp>
        <p:nvSpPr>
          <p:cNvPr id="5" name="Text 3"/>
          <p:cNvSpPr/>
          <p:nvPr/>
        </p:nvSpPr>
        <p:spPr>
          <a:xfrm>
            <a:off x="2560320" y="1371600"/>
            <a:ext cx="4114800" cy="201168"/>
          </a:xfrm>
          <a:prstGeom prst="rect">
            <a:avLst/>
          </a:prstGeom>
          <a:noFill/>
          <a:ln/>
        </p:spPr>
        <p:txBody>
          <a:bodyPr wrap="square" lIns="0" tIns="0" rIns="0" bIns="0" rtlCol="0" anchor="ctr"/>
          <a:lstStyle/>
          <a:p>
            <a:pPr indent="0" marL="0">
              <a:buNone/>
            </a:pPr>
            <a:r>
              <a:rPr lang="en-US" sz="1000" dirty="0">
                <a:solidFill>
                  <a:srgbClr val="D6E6F9"/>
                </a:solidFill>
                <a:latin typeface="Consolas" pitchFamily="34" charset="0"/>
                <a:ea typeface="Consolas" pitchFamily="34" charset="-122"/>
                <a:cs typeface="Consolas" pitchFamily="34" charset="-120"/>
              </a:rPr>
              <a:t>.cursor/</a:t>
            </a:r>
            <a:endParaRPr lang="en-US" sz="1000" dirty="0"/>
          </a:p>
        </p:txBody>
      </p:sp>
      <p:sp>
        <p:nvSpPr>
          <p:cNvPr id="6" name="Text 4"/>
          <p:cNvSpPr/>
          <p:nvPr/>
        </p:nvSpPr>
        <p:spPr>
          <a:xfrm>
            <a:off x="2560320" y="1591056"/>
            <a:ext cx="4114800" cy="201168"/>
          </a:xfrm>
          <a:prstGeom prst="rect">
            <a:avLst/>
          </a:prstGeom>
          <a:noFill/>
          <a:ln/>
        </p:spPr>
        <p:txBody>
          <a:bodyPr wrap="square" lIns="0" tIns="0" rIns="0" bIns="0" rtlCol="0" anchor="ctr"/>
          <a:lstStyle/>
          <a:p>
            <a:pPr indent="0" marL="0">
              <a:buNone/>
            </a:pPr>
            <a:r>
              <a:rPr lang="en-US" sz="1000" dirty="0">
                <a:solidFill>
                  <a:srgbClr val="D6E6F9"/>
                </a:solidFill>
                <a:latin typeface="Consolas" pitchFamily="34" charset="0"/>
                <a:ea typeface="Consolas" pitchFamily="34" charset="-122"/>
                <a:cs typeface="Consolas" pitchFamily="34" charset="-120"/>
              </a:rPr>
              <a:t>  skills/</a:t>
            </a:r>
            <a:endParaRPr lang="en-US" sz="1000" dirty="0"/>
          </a:p>
        </p:txBody>
      </p:sp>
      <p:sp>
        <p:nvSpPr>
          <p:cNvPr id="7" name="Text 5"/>
          <p:cNvSpPr/>
          <p:nvPr/>
        </p:nvSpPr>
        <p:spPr>
          <a:xfrm>
            <a:off x="2560320" y="1810512"/>
            <a:ext cx="4114800" cy="201168"/>
          </a:xfrm>
          <a:prstGeom prst="rect">
            <a:avLst/>
          </a:prstGeom>
          <a:noFill/>
          <a:ln/>
        </p:spPr>
        <p:txBody>
          <a:bodyPr wrap="square" lIns="0" tIns="0" rIns="0" bIns="0" rtlCol="0" anchor="ctr"/>
          <a:lstStyle/>
          <a:p>
            <a:pPr indent="0" marL="0">
              <a:buNone/>
            </a:pPr>
            <a:r>
              <a:rPr lang="en-US" sz="1000" dirty="0">
                <a:solidFill>
                  <a:srgbClr val="D6E6F9"/>
                </a:solidFill>
                <a:latin typeface="Consolas" pitchFamily="34" charset="0"/>
                <a:ea typeface="Consolas" pitchFamily="34" charset="-122"/>
                <a:cs typeface="Consolas" pitchFamily="34" charset="-120"/>
              </a:rPr>
              <a:t>    code-review-lite/</a:t>
            </a:r>
            <a:endParaRPr lang="en-US" sz="1000" dirty="0"/>
          </a:p>
        </p:txBody>
      </p:sp>
      <p:sp>
        <p:nvSpPr>
          <p:cNvPr id="8" name="Text 6"/>
          <p:cNvSpPr/>
          <p:nvPr/>
        </p:nvSpPr>
        <p:spPr>
          <a:xfrm>
            <a:off x="2560320" y="2029968"/>
            <a:ext cx="4114800" cy="201168"/>
          </a:xfrm>
          <a:prstGeom prst="rect">
            <a:avLst/>
          </a:prstGeom>
          <a:noFill/>
          <a:ln/>
        </p:spPr>
        <p:txBody>
          <a:bodyPr wrap="square" lIns="0" tIns="0" rIns="0" bIns="0" rtlCol="0" anchor="ctr"/>
          <a:lstStyle/>
          <a:p>
            <a:pPr indent="0" marL="0">
              <a:buNone/>
            </a:pPr>
            <a:r>
              <a:rPr lang="en-US" sz="1000" dirty="0">
                <a:solidFill>
                  <a:srgbClr val="E8913A"/>
                </a:solidFill>
                <a:latin typeface="Consolas" pitchFamily="34" charset="0"/>
                <a:ea typeface="Consolas" pitchFamily="34" charset="-122"/>
                <a:cs typeface="Consolas" pitchFamily="34" charset="-120"/>
              </a:rPr>
              <a:t>      SKILL.md              ← 必須</a:t>
            </a:r>
            <a:endParaRPr lang="en-US" sz="1000" dirty="0"/>
          </a:p>
        </p:txBody>
      </p:sp>
      <p:sp>
        <p:nvSpPr>
          <p:cNvPr id="9" name="Text 7"/>
          <p:cNvSpPr/>
          <p:nvPr/>
        </p:nvSpPr>
        <p:spPr>
          <a:xfrm>
            <a:off x="2560320" y="2249424"/>
            <a:ext cx="4114800" cy="201168"/>
          </a:xfrm>
          <a:prstGeom prst="rect">
            <a:avLst/>
          </a:prstGeom>
          <a:noFill/>
          <a:ln/>
        </p:spPr>
        <p:txBody>
          <a:bodyPr wrap="square" lIns="0" tIns="0" rIns="0" bIns="0" rtlCol="0" anchor="ctr"/>
          <a:lstStyle/>
          <a:p>
            <a:pPr indent="0" marL="0">
              <a:buNone/>
            </a:pPr>
            <a:r>
              <a:rPr lang="en-US" sz="1000" dirty="0">
                <a:solidFill>
                  <a:srgbClr val="D6E6F9"/>
                </a:solidFill>
                <a:latin typeface="Consolas" pitchFamily="34" charset="0"/>
                <a:ea typeface="Consolas" pitchFamily="34" charset="-122"/>
                <a:cs typeface="Consolas" pitchFamily="34" charset="-120"/>
              </a:rPr>
              <a:t>      references/</a:t>
            </a:r>
            <a:endParaRPr lang="en-US" sz="1000" dirty="0"/>
          </a:p>
        </p:txBody>
      </p:sp>
      <p:sp>
        <p:nvSpPr>
          <p:cNvPr id="10" name="Text 8"/>
          <p:cNvSpPr/>
          <p:nvPr/>
        </p:nvSpPr>
        <p:spPr>
          <a:xfrm>
            <a:off x="2560320" y="2468880"/>
            <a:ext cx="4114800" cy="201168"/>
          </a:xfrm>
          <a:prstGeom prst="rect">
            <a:avLst/>
          </a:prstGeom>
          <a:noFill/>
          <a:ln/>
        </p:spPr>
        <p:txBody>
          <a:bodyPr wrap="square" lIns="0" tIns="0" rIns="0" bIns="0" rtlCol="0" anchor="ctr"/>
          <a:lstStyle/>
          <a:p>
            <a:pPr indent="0" marL="0">
              <a:buNone/>
            </a:pPr>
            <a:r>
              <a:rPr lang="en-US" sz="1000" dirty="0">
                <a:solidFill>
                  <a:srgbClr val="D6E6F9"/>
                </a:solidFill>
                <a:latin typeface="Consolas" pitchFamily="34" charset="0"/>
                <a:ea typeface="Consolas" pitchFamily="34" charset="-122"/>
                <a:cs typeface="Consolas" pitchFamily="34" charset="-120"/>
              </a:rPr>
              <a:t>        review-checklist.md  ← 推奨</a:t>
            </a:r>
            <a:endParaRPr lang="en-US" sz="1000" dirty="0"/>
          </a:p>
        </p:txBody>
      </p:sp>
      <p:sp>
        <p:nvSpPr>
          <p:cNvPr id="11" name="Text 9"/>
          <p:cNvSpPr/>
          <p:nvPr/>
        </p:nvSpPr>
        <p:spPr>
          <a:xfrm>
            <a:off x="2560320" y="2688336"/>
            <a:ext cx="4114800" cy="201168"/>
          </a:xfrm>
          <a:prstGeom prst="rect">
            <a:avLst/>
          </a:prstGeom>
          <a:noFill/>
          <a:ln/>
        </p:spPr>
        <p:txBody>
          <a:bodyPr wrap="square" lIns="0" tIns="0" rIns="0" bIns="0" rtlCol="0" anchor="ctr"/>
          <a:lstStyle/>
          <a:p>
            <a:pPr indent="0" marL="0">
              <a:buNone/>
            </a:pPr>
            <a:r>
              <a:rPr lang="en-US" sz="1000" dirty="0">
                <a:solidFill>
                  <a:srgbClr val="D6E6F9"/>
                </a:solidFill>
                <a:latin typeface="Consolas" pitchFamily="34" charset="0"/>
                <a:ea typeface="Consolas" pitchFamily="34" charset="-122"/>
                <a:cs typeface="Consolas" pitchFamily="34" charset="-120"/>
              </a:rPr>
              <a:t>      scripts/</a:t>
            </a:r>
            <a:endParaRPr lang="en-US" sz="1000" dirty="0"/>
          </a:p>
        </p:txBody>
      </p:sp>
      <p:sp>
        <p:nvSpPr>
          <p:cNvPr id="12" name="Text 10"/>
          <p:cNvSpPr/>
          <p:nvPr/>
        </p:nvSpPr>
        <p:spPr>
          <a:xfrm>
            <a:off x="2560320" y="2907792"/>
            <a:ext cx="4114800" cy="201168"/>
          </a:xfrm>
          <a:prstGeom prst="rect">
            <a:avLst/>
          </a:prstGeom>
          <a:noFill/>
          <a:ln/>
        </p:spPr>
        <p:txBody>
          <a:bodyPr wrap="square" lIns="0" tIns="0" rIns="0" bIns="0" rtlCol="0" anchor="ctr"/>
          <a:lstStyle/>
          <a:p>
            <a:pPr indent="0" marL="0">
              <a:buNone/>
            </a:pPr>
            <a:r>
              <a:rPr lang="en-US" sz="1000" dirty="0">
                <a:solidFill>
                  <a:srgbClr val="D6E6F9"/>
                </a:solidFill>
                <a:latin typeface="Consolas" pitchFamily="34" charset="0"/>
                <a:ea typeface="Consolas" pitchFamily="34" charset="-122"/>
                <a:cs typeface="Consolas" pitchFamily="34" charset="-120"/>
              </a:rPr>
              <a:t>        collect_diff.sh      ← 推奨</a:t>
            </a:r>
            <a:endParaRPr lang="en-US" sz="1000" dirty="0"/>
          </a:p>
        </p:txBody>
      </p:sp>
      <p:sp>
        <p:nvSpPr>
          <p:cNvPr id="13" name="Text 11"/>
          <p:cNvSpPr/>
          <p:nvPr/>
        </p:nvSpPr>
        <p:spPr>
          <a:xfrm>
            <a:off x="1371600" y="3474720"/>
            <a:ext cx="6400800" cy="2560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name をフォルダ名と一致させる</a:t>
            </a:r>
            <a:endParaRPr lang="en-US" sz="1200" dirty="0"/>
          </a:p>
        </p:txBody>
      </p:sp>
      <p:sp>
        <p:nvSpPr>
          <p:cNvPr id="14" name="Text 12"/>
          <p:cNvSpPr/>
          <p:nvPr/>
        </p:nvSpPr>
        <p:spPr>
          <a:xfrm>
            <a:off x="1371600" y="3749040"/>
            <a:ext cx="6400800" cy="2560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description に「いつ使うか」を明記する</a:t>
            </a:r>
            <a:endParaRPr lang="en-US" sz="1200" dirty="0"/>
          </a:p>
        </p:txBody>
      </p:sp>
      <p:sp>
        <p:nvSpPr>
          <p:cNvPr id="15" name="Text 13"/>
          <p:cNvSpPr/>
          <p:nvPr/>
        </p:nvSpPr>
        <p:spPr>
          <a:xfrm>
            <a:off x="1371600" y="4023360"/>
            <a:ext cx="6400800" cy="2560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本文は 5〜10 ステップ程度に収める</a:t>
            </a:r>
            <a:endParaRPr lang="en-US" sz="1200" dirty="0"/>
          </a:p>
        </p:txBody>
      </p:sp>
      <p:sp>
        <p:nvSpPr>
          <p:cNvPr id="16" name="Text 14"/>
          <p:cNvSpPr/>
          <p:nvPr/>
        </p:nvSpPr>
        <p:spPr>
          <a:xfrm>
            <a:off x="1371600" y="4297680"/>
            <a:ext cx="6400800" cy="2560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最初は scripts なしでもOK</a:t>
            </a:r>
            <a:endParaRPr lang="en-US" sz="1200" dirty="0"/>
          </a:p>
        </p:txBody>
      </p:sp>
      <p:sp>
        <p:nvSpPr>
          <p:cNvPr id="17" name="Text 15"/>
          <p:cNvSpPr/>
          <p:nvPr/>
        </p:nvSpPr>
        <p:spPr>
          <a:xfrm>
            <a:off x="1371600" y="4572000"/>
            <a:ext cx="6400800" cy="2560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段階的に references/ → scripts/ → 固有ルール と育てる</a:t>
            </a:r>
            <a:endParaRPr lang="en-US" sz="1200" dirty="0"/>
          </a:p>
        </p:txBody>
      </p:sp>
      <p:sp>
        <p:nvSpPr>
          <p:cNvPr id="18" name="Shape 16"/>
          <p:cNvSpPr/>
          <p:nvPr/>
        </p:nvSpPr>
        <p:spPr>
          <a:xfrm>
            <a:off x="2743200" y="4754880"/>
            <a:ext cx="3657600" cy="27432"/>
          </a:xfrm>
          <a:prstGeom prst="rect">
            <a:avLst/>
          </a:prstGeom>
          <a:solidFill>
            <a:srgbClr val="E8913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Agent Skills 導入・活用ガイド</dc:title>
  <dc:subject>PptxGenJS Presentation</dc:subject>
  <dc:creator>Claude</dc:creator>
  <cp:lastModifiedBy>Claude</cp:lastModifiedBy>
  <cp:revision>1</cp:revision>
  <dcterms:created xsi:type="dcterms:W3CDTF">2026-04-15T06:50:04Z</dcterms:created>
  <dcterms:modified xsi:type="dcterms:W3CDTF">2026-04-15T06:50:04Z</dcterms:modified>
</cp:coreProperties>
</file>